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58B14A43-42DB-25FC-7083-A29B2FC4125B}">
          <p14:sldIdLst>
            <p14:sldId id="256"/>
          </p14:sldIdLst>
        </p14:section>
        <p14:section name="Body" id="{6B2E392C-8416-B822-1759-5A4CA7D0DE57}">
          <p14:sldIdLst>
            <p14:sldId id="257"/>
            <p14:sldId id="258"/>
            <p14:sldId id="259"/>
            <p14:sldId id="260"/>
            <p14:sldId id="261"/>
            <p14:sldId id="262"/>
            <p14:sldId id="263"/>
          </p14:sldIdLst>
        </p14:section>
        <p14:section name="End" id="{F087CA98-1706-8A17-EC2F-4D09B9A07DC5}">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presProps" Target="pres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notesMaster" Target="notesMasters/notesMaster1.xml" /><Relationship Id="rId5" Type="http://schemas.openxmlformats.org/officeDocument/2006/relationships/slide" Target="slides/slide4.xml" /><Relationship Id="rId15" Type="http://schemas.openxmlformats.org/officeDocument/2006/relationships/tableStyles" Target="tableStyle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heme" Target="theme/theme1.xml" /></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 /></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1F2A"/>
                </a:solidFill>
                <a:latin typeface="+mn-lt"/>
              </a:defRPr>
            </a:pPr>
            <a:r>
              <a:rPr sz="1400" b="0" i="0" u="none" strike="noStrike">
                <a:solidFill>
                  <a:srgbClr val="1B1F2A"/>
                </a:solidFill>
                <a:latin typeface="+mn-lt"/>
              </a:rPr>
              <a:t>Peak die temperature at 5 W (K)</a:t>
            </a:r>
          </a:p>
        </c:rich>
      </c:tx>
      <c:overlay val="0"/>
    </c:title>
    <c:autoTitleDeleted val="0"/>
    <c:plotArea>
      <c:layout/>
      <c:barChart>
        <c:barDir val="col"/>
        <c:grouping val="clustered"/>
        <c:varyColors val="0"/>
        <c:ser>
          <c:idx val="0"/>
          <c:order val="0"/>
          <c:tx>
            <c:strRef>
              <c:f>Sheet1!$B$1</c:f>
              <c:strCache>
                <c:ptCount val="1"/>
                <c:pt idx="0">
                  <c:v>Uniform split</c:v>
                </c:pt>
              </c:strCache>
            </c:strRef>
          </c:tx>
          <c:spPr>
            <a:solidFill>
              <a:srgbClr val="7A869A"/>
            </a:solidFill>
            <a:effectLst/>
          </c:spPr>
          <c:invertIfNegative val="0"/>
          <c:dLbls>
            <c:numFmt formatCode="0.00" sourceLinked="0"/>
            <c:spPr>
              <a:noFill/>
              <a:ln>
                <a:noFill/>
              </a:ln>
              <a:effectLst/>
            </c:spPr>
            <c:txPr>
              <a:bodyPr/>
              <a:lstStyle/>
              <a:p>
                <a:pPr>
                  <a:defRPr sz="1200" b="0" i="0" u="none" strike="noStrike">
                    <a:solidFill>
                      <a:srgbClr val="1B1F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Scenario A: all cores active</c:v>
                </c:pt>
                <c:pt idx="1">
                  <c:v>Scenario B: cores 2 and 3 idle</c:v>
                </c:pt>
              </c:strCache>
            </c:strRef>
          </c:cat>
          <c:val>
            <c:numRef>
              <c:f>Sheet1!$B$2:$B$3</c:f>
              <c:numCache>
                <c:formatCode>General</c:formatCode>
                <c:ptCount val="2"/>
                <c:pt idx="0">
                  <c:v>325.18</c:v>
                </c:pt>
                <c:pt idx="1">
                  <c:v>328.65</c:v>
                </c:pt>
              </c:numCache>
            </c:numRef>
          </c:val>
          <c:extLst>
            <c:ext xmlns:c16="http://schemas.microsoft.com/office/drawing/2014/chart" uri="{C3380CC4-5D6E-409C-BE32-E72D297353CC}">
              <c16:uniqueId val="{00000000-5A97-FE45-938A-E6EEA92962DC}"/>
            </c:ext>
          </c:extLst>
        </c:ser>
        <c:ser>
          <c:idx val="1"/>
          <c:order val="1"/>
          <c:tx>
            <c:strRef>
              <c:f>Sheet1!$C$1</c:f>
              <c:strCache>
                <c:ptCount val="1"/>
                <c:pt idx="0">
                  <c:v>LP-optimal</c:v>
                </c:pt>
              </c:strCache>
            </c:strRef>
          </c:tx>
          <c:spPr>
            <a:solidFill>
              <a:srgbClr val="E8590C"/>
            </a:solidFill>
            <a:effectLst/>
          </c:spPr>
          <c:invertIfNegative val="0"/>
          <c:dLbls>
            <c:numFmt formatCode="0.00" sourceLinked="0"/>
            <c:spPr>
              <a:noFill/>
              <a:ln>
                <a:noFill/>
              </a:ln>
              <a:effectLst/>
            </c:spPr>
            <c:txPr>
              <a:bodyPr/>
              <a:lstStyle/>
              <a:p>
                <a:pPr>
                  <a:defRPr sz="1200" b="0" i="0" u="none" strike="noStrike">
                    <a:solidFill>
                      <a:srgbClr val="1B1F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Scenario A: all cores active</c:v>
                </c:pt>
                <c:pt idx="1">
                  <c:v>Scenario B: cores 2 and 3 idle</c:v>
                </c:pt>
              </c:strCache>
            </c:strRef>
          </c:cat>
          <c:val>
            <c:numRef>
              <c:f>Sheet1!$C$2:$C$3</c:f>
              <c:numCache>
                <c:formatCode>General</c:formatCode>
                <c:ptCount val="2"/>
                <c:pt idx="0">
                  <c:v>322.86</c:v>
                </c:pt>
                <c:pt idx="1">
                  <c:v>322.86</c:v>
                </c:pt>
              </c:numCache>
            </c:numRef>
          </c:val>
          <c:extLst>
            <c:ext xmlns:c16="http://schemas.microsoft.com/office/drawing/2014/chart" uri="{C3380CC4-5D6E-409C-BE32-E72D297353CC}">
              <c16:uniqueId val="{00000001-5A97-FE45-938A-E6EEA92962DC}"/>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F2A"/>
                </a:solidFill>
                <a:latin typeface="+mn-lt"/>
              </a:defRPr>
            </a:pPr>
            <a:endParaRPr lang="en-US"/>
          </a:p>
        </c:txPr>
        <c:crossAx val="2094734552"/>
        <c:crosses val="autoZero"/>
        <c:auto val="1"/>
        <c:lblAlgn val="ctr"/>
        <c:lblOffset val="100"/>
        <c:noMultiLvlLbl val="1"/>
      </c:catAx>
      <c:valAx>
        <c:axId val="2094734552"/>
        <c:scaling>
          <c:orientation val="minMax"/>
          <c:max val="332"/>
          <c:min val="300"/>
        </c:scaling>
        <c:delete val="0"/>
        <c:axPos val="l"/>
        <c:majorGridlines>
          <c:spPr>
            <a:ln w="6350" cap="flat">
              <a:solidFill>
                <a:srgbClr val="DDE1E8"/>
              </a:solidFill>
              <a:prstDash val="solid"/>
              <a:round/>
            </a:ln>
          </c:spPr>
        </c:majorGridlines>
        <c:title>
          <c:tx>
            <c:rich>
              <a:bodyPr/>
              <a:lstStyle/>
              <a:p>
                <a:pPr>
                  <a:defRPr sz="1100" b="0" i="0" u="none" strike="noStrike">
                    <a:solidFill>
                      <a:srgbClr val="7A869A"/>
                    </a:solidFill>
                    <a:latin typeface="+mn-lt"/>
                  </a:defRPr>
                </a:pPr>
                <a:r>
                  <a:rPr sz="1100" b="0" i="0" u="none" strike="noStrike">
                    <a:solidFill>
                      <a:srgbClr val="7A869A"/>
                    </a:solidFill>
                    <a:latin typeface="+mn-lt"/>
                  </a:rPr>
                  <a:t>Temperature (K), axis starts at ambient 300 K</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A869A"/>
                </a:solidFill>
                <a:latin typeface="+mn-lt"/>
              </a:defRPr>
            </a:pPr>
            <a:endParaRPr lang="en-US"/>
          </a:p>
        </c:txPr>
        <c:crossAx val="2094734554"/>
        <c:crosses val="autoZero"/>
        <c:crossBetween val="between"/>
        <c:majorUnit val="8"/>
      </c:valAx>
      <c:spPr>
        <a:noFill/>
        <a:ln>
          <a:noFill/>
        </a:ln>
        <a:effectLst/>
      </c:spPr>
    </c:plotArea>
    <c:legend>
      <c:legendPos val="b"/>
      <c:overlay val="0"/>
      <c:txPr>
        <a:bodyPr/>
        <a:lstStyle/>
        <a:p>
          <a:pPr>
            <a:defRPr sz="1200">
              <a:solidFill>
                <a:srgbClr val="1B1F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C4B09701-1C5D-2D4D-B983-17B16302E25C}" type="datetimeFigureOut">
              <a:rPr lang="en-US" smtClean="0"/>
              <a:t>10/13/2026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725AAC9C-580A-3348-B5B5-985388F5AC2D}" type="slidenum">
              <a:rPr lang="en-US" smtClean="0"/>
              <a:t>‹#›</a:t>
            </a:fld>
            <a:endParaRPr lang="en-US"/>
          </a:p>
        </p:txBody>
      </p:sp>
    </p:spTree>
    <p:extLst>
      <p:ext uri="{BB962C8B-B14F-4D97-AF65-F5344CB8AC3E}">
        <p14:creationId xmlns:p14="http://schemas.microsoft.com/office/powerpoint/2010/main" val="2223466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s] Good morning. Our project is about deciding how to split a fixed power budget among the cores of a processor so the chip runs as cool as possible. I'll cover the problem, the maths we used, the software we built, and what the results show.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 Picture a ten-millimetre die with four processor cores in the corners and a shared L2 cache in the middle. We have exactly five watts to hand out. The edges are bolted to a heat sink at 300 kelvin, so they stay cool, but the middle is far from the sink. What matters to a chip is its hottest point, because that is when firmware slows the clock down. So the question is: how do we split five watts to make the hottest point as low as possible? We treat it as one chain of maths rather than a simulation followed by guesswork.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 The brief describes a generic problem: four heat sources, five watts, a ten-millimetre die. To make it concrete we chose a real architecture, a quad-core RISC-V chip with a shared L2 cache in the centre. FRISC-V is a published open-source core, proven on an FPGA and able to boot Linux. We rejected the Intel 8051, whose microwatt budget is far too small for a five-watt problem.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s] Prior work falls into three groups: compact thermal models such as HotSpot, analytical conduction solutions from Carslaw and Jaeger, and convex optimization. Our gap is that the full spatial field and the optimizer share one matrix.</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70 s] Five steps, each from a different course. One: Fourier's law says heat flows down the temperature gradient, and an energy balance says what flows in equals what is generated. Two: together they give the Poisson equation, which is elliptic, with the die edges fixed at 300 kelvin. Three: taking the Laplace transform in time gives a thermal impedance Zth of s. Each spatial mode is a simple one-pole lag, and as s goes to zero it reduces to the steady thermal resistance, so solving only the steady problem is justified. Four: a five-point finite-difference stencil on a forty-by-forty grid gives A theta equals B q, a sparse sixteen-hundred-square matrix. Five: since theta is linear in the powers, the peak is a maximum of linear functions. Adding one variable t that bounds every node gives a linear program. The five watts are fixed, powers are non-negative, and the cache has a small minimum of 0.3 watts. That is why the optimization is a consequence of the physics and not a bolt-on.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 For the chip we chose a RISC-V quad-core, based on FRISC-V, an open-source five-stage RV32I core from the University of Zagreb. RISC-V suits multicore designs, it is open, and published power numbers exist, so a watt-level study is credible. We placed the four cores in the quadrants and the shared L2 cache at the centre, which is also the worst-cooled spot. Everything is Python: NumPy, SciPy sparse matrices, linprog with HiGHS, and Matplotlib. The code is one module per maths stage, the GUI reuses the same functions, sixteen automated tests pass, and one command rebuilds every figure.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70 s] Here are the numbers. With all four cores active, the uniform split peaks at 325.18 kelvin and the LP at 322.86, a 2.3 kelvin drop. When only two cores are busy, the uniform split gets worse, 328.65, but the LP lands on the same 322.86 K, a 5.79 kelvin reduction. The reason is that the LP works on the physics, not the workload: the cores are thermally symmetric and the cache is worst-cooled, so equal core power of 1.175 watts and the minimum 0.3 watts for the cache is best in both cases. The last row is our check on the brief's own four-point layout. Its blocks are mirror images, so uniform is already optimal and the gain is zero. Sweeping the budget from 1 to 8 watts, the peak rises 4.03 K per watt with the LP against 5.73 uniform, so the benefit grows with power. Finally, the analytical modal solution and the sparse solver agree to 6e-16, which is machine precision.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 Some honest limits. The power numbers are modelled, not measured. The die is idealised: constant conductivity, perfect heat-sink edges, and no package. The 0.3 watt cache minimum influences the answer. And with the brief's perfectly symmetric four-point layout, uniform is already optimal, so the expected five kelvin gain cannot appear; we show that as a validation case rather than force a result. To conclude: the LP lowers the peak by 5.79 kelvin for the asymmetric workload, every stage is verified, and one command reproduces everything. Next we would use finite-area blocks with measured power, a 3D package model, and transient workloads.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 s] These are the references. Thank you, we are happy to take questions. Total target time: about 6 minutes.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10698480" cy="182880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02920"/>
            <a:ext cx="11064240" cy="73152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Thermal-Aware Power Budgeting  |  S3 EC Capstone</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02920"/>
            <a:ext cx="11064240" cy="73152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5" Type="http://schemas.openxmlformats.org/officeDocument/2006/relationships/theme" Target="../theme/theme1.xml" /><Relationship Id="rId4" Type="http://schemas.openxmlformats.org/officeDocument/2006/relationships/slideLayout" Target="../slideLayouts/slideLayout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2.xml" /><Relationship Id="rId1" Type="http://schemas.openxmlformats.org/officeDocument/2006/relationships/slideLayout" Target="../slideLayouts/slideLayout3.xml" /><Relationship Id="rId5" Type="http://schemas.openxmlformats.org/officeDocument/2006/relationships/image" Target="../media/image3.png" /><Relationship Id="rId4" Type="http://schemas.openxmlformats.org/officeDocument/2006/relationships/image" Target="../media/image2.png"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3.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3.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3.xml" /></Relationships>
</file>

<file path=ppt/slides/_rels/slide6.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6.xml" /><Relationship Id="rId1" Type="http://schemas.openxmlformats.org/officeDocument/2006/relationships/slideLayout" Target="../slideLayouts/slideLayout3.xml" /><Relationship Id="rId4" Type="http://schemas.openxmlformats.org/officeDocument/2006/relationships/image" Target="../media/image5.png" /></Relationships>
</file>

<file path=ppt/slides/_rels/slide7.xml.rels><?xml version="1.0" encoding="UTF-8" standalone="yes"?>
<Relationships xmlns="http://schemas.openxmlformats.org/package/2006/relationships"><Relationship Id="rId3" Type="http://schemas.openxmlformats.org/officeDocument/2006/relationships/chart" Target="../charts/chart1.xml" /><Relationship Id="rId2" Type="http://schemas.openxmlformats.org/officeDocument/2006/relationships/notesSlide" Target="../notesSlides/notesSlide7.xml" /><Relationship Id="rId1" Type="http://schemas.openxmlformats.org/officeDocument/2006/relationships/slideLayout" Target="../slideLayouts/slideLayout3.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3.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4.xml"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731520" y="1828800"/>
            <a:ext cx="10698480" cy="1828800"/>
          </a:xfrm>
          <a:prstGeom prst="rect">
            <a:avLst/>
          </a:prstGeom>
          <a:noFill/>
          <a:ln/>
        </p:spPr>
        <p:txBody>
          <a:bodyPr wrap="square" lIns="0" tIns="0" rIns="0" bIns="0" rtlCol="0" anchor="t"/>
          <a:lstStyle/>
          <a:p>
            <a:pPr marL="0" indent="0" algn="l">
              <a:buNone/>
            </a:pPr>
            <a:r>
              <a:rPr lang="en-US" sz="4400" b="1" dirty="0">
                <a:solidFill>
                  <a:schemeClr val="bg1"/>
                </a:solidFill>
              </a:rPr>
              <a:t>Thermal-Aware Power Budgeting for a Quad-Core RISC-V Processor</a:t>
            </a:r>
            <a:endParaRPr lang="en-US" sz="4400" dirty="0"/>
          </a:p>
        </p:txBody>
      </p:sp>
      <p:sp>
        <p:nvSpPr>
          <p:cNvPr id="4" name="Subtitle"/>
          <p:cNvSpPr txBox="1"/>
          <p:nvPr/>
        </p:nvSpPr>
        <p:spPr>
          <a:xfrm>
            <a:off x="731520" y="3749040"/>
            <a:ext cx="8686800" cy="822960"/>
          </a:xfrm>
          <a:prstGeom prst="rect">
            <a:avLst/>
          </a:prstGeom>
          <a:noFill/>
          <a:ln/>
        </p:spPr>
        <p:txBody>
          <a:bodyPr wrap="square" lIns="0" tIns="0" rIns="0" bIns="0" rtlCol="0" anchor="ctr"/>
          <a:lstStyle/>
          <a:p>
            <a:pPr marL="0" indent="0">
              <a:buNone/>
            </a:pPr>
            <a:r>
              <a:rPr lang="en-US" sz="2000" dirty="0">
                <a:solidFill>
                  <a:schemeClr val="accent5"/>
                </a:solidFill>
              </a:rPr>
              <a:t>Using the heat equation and linear programming to keep the hottest point on the die as cool as possible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label"/>
          <p:cNvSpPr txBox="1"/>
          <p:nvPr/>
        </p:nvSpPr>
        <p:spPr>
          <a:xfrm>
            <a:off x="548640" y="228600"/>
            <a:ext cx="73152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1  INTRODUCTION</a:t>
            </a:r>
            <a:endParaRPr lang="en-US" sz="1200" dirty="0"/>
          </a:p>
        </p:txBody>
      </p:sp>
      <p:sp>
        <p:nvSpPr>
          <p:cNvPr id="3" name="Text 0"/>
          <p:cNvSpPr>
            <a:spLocks noGrp="1"/>
          </p:cNvSpPr>
          <p:nvPr>
            <p:ph type="title" idx="100" hasCustomPrompt="1"/>
          </p:nvPr>
        </p:nvSpPr>
        <p:spPr>
          <a:xfrm>
            <a:off x="548640" y="502920"/>
            <a:ext cx="11064240" cy="731520"/>
          </a:xfrm>
          <a:prstGeom prst="rect">
            <a:avLst/>
          </a:prstGeom>
          <a:noFill/>
          <a:ln/>
        </p:spPr>
        <p:txBody>
          <a:bodyPr wrap="square" lIns="0" tIns="0" rIns="0" bIns="0" rtlCol="0" anchor="ctr"/>
          <a:lstStyle/>
          <a:p>
            <a:pPr marL="0" indent="0" algn="l">
              <a:buNone/>
            </a:pPr>
            <a:r>
              <a:rPr lang="en-US" sz="3400" b="1" dirty="0">
                <a:solidFill>
                  <a:schemeClr val="tx1"/>
                </a:solidFill>
              </a:rPr>
              <a:t>Where should the 5 watts go?</a:t>
            </a:r>
            <a:endParaRPr lang="en-US" sz="3400" dirty="0"/>
          </a:p>
        </p:txBody>
      </p:sp>
      <p:sp>
        <p:nvSpPr>
          <p:cNvPr id="4" name="Intro card 1"/>
          <p:cNvSpPr/>
          <p:nvPr/>
        </p:nvSpPr>
        <p:spPr>
          <a:xfrm>
            <a:off x="548640" y="1508760"/>
            <a:ext cx="6035040" cy="1417320"/>
          </a:xfrm>
          <a:prstGeom prst="roundRect">
            <a:avLst>
              <a:gd name="adj" fmla="val 7742"/>
            </a:avLst>
          </a:prstGeom>
          <a:solidFill>
            <a:schemeClr val="bg2"/>
          </a:solidFill>
          <a:ln w="12700">
            <a:solidFill>
              <a:schemeClr val="bg2"/>
            </a:solidFill>
            <a:prstDash val="solid"/>
          </a:ln>
        </p:spPr>
      </p:sp>
      <p:sp>
        <p:nvSpPr>
          <p:cNvPr id="5" name="Icon disc 1"/>
          <p:cNvSpPr/>
          <p:nvPr/>
        </p:nvSpPr>
        <p:spPr>
          <a:xfrm>
            <a:off x="777240" y="1920240"/>
            <a:ext cx="594360" cy="594360"/>
          </a:xfrm>
          <a:prstGeom prst="ellipse">
            <a:avLst/>
          </a:prstGeom>
          <a:solidFill>
            <a:schemeClr val="accent1"/>
          </a:solidFill>
          <a:ln w="12700">
            <a:solidFill>
              <a:schemeClr val="accent1"/>
            </a:solidFill>
            <a:prstDash val="solid"/>
          </a:ln>
        </p:spPr>
      </p:sp>
      <p:pic>
        <p:nvPicPr>
          <p:cNvPr id="6" name="Image 0" descr="The problem icon"/>
          <p:cNvPicPr>
            <a:picLocks noChangeAspect="1"/>
          </p:cNvPicPr>
          <p:nvPr/>
        </p:nvPicPr>
        <p:blipFill>
          <a:blip r:embed="rId3"/>
          <a:stretch>
            <a:fillRect/>
          </a:stretch>
        </p:blipFill>
        <p:spPr>
          <a:xfrm>
            <a:off x="932688" y="2075688"/>
            <a:ext cx="283464" cy="283464"/>
          </a:xfrm>
          <a:prstGeom prst="rect">
            <a:avLst/>
          </a:prstGeom>
        </p:spPr>
      </p:pic>
      <p:sp>
        <p:nvSpPr>
          <p:cNvPr id="7" name="Intro text 1"/>
          <p:cNvSpPr txBox="1"/>
          <p:nvPr/>
        </p:nvSpPr>
        <p:spPr>
          <a:xfrm>
            <a:off x="1600200" y="1600200"/>
            <a:ext cx="4846320" cy="1234440"/>
          </a:xfrm>
          <a:prstGeom prst="rect">
            <a:avLst/>
          </a:prstGeom>
          <a:noFill/>
          <a:ln/>
        </p:spPr>
        <p:txBody>
          <a:bodyPr wrap="square" lIns="0" tIns="0" rIns="0" bIns="0" rtlCol="0" anchor="ctr"/>
          <a:lstStyle/>
          <a:p>
            <a:pPr marL="0" indent="0">
              <a:buNone/>
            </a:pPr>
            <a:r>
              <a:rPr lang="en-US" sz="1800" b="1" dirty="0">
                <a:solidFill>
                  <a:schemeClr val="tx1"/>
                </a:solidFill>
              </a:rPr>
              <a:t>The problem</a:t>
            </a:r>
            <a:endParaRPr lang="en-US" sz="1800" dirty="0"/>
          </a:p>
          <a:p>
            <a:pPr marL="0" indent="0">
              <a:buNone/>
            </a:pPr>
            <a:r>
              <a:rPr lang="en-US" sz="1400" dirty="0">
                <a:solidFill>
                  <a:schemeClr val="tx2"/>
                </a:solidFill>
              </a:rPr>
              <a:t>A 10 mm x 10 mm die holds four RISC-V cores and a shared L2 cache. The total budget is 5 W and the die edges sit at 300 K. Pick each block's power to minimize the peak temperature.</a:t>
            </a:r>
            <a:endParaRPr lang="en-US" sz="1800" dirty="0"/>
          </a:p>
        </p:txBody>
      </p:sp>
      <p:sp>
        <p:nvSpPr>
          <p:cNvPr id="8" name="Intro card 2"/>
          <p:cNvSpPr/>
          <p:nvPr/>
        </p:nvSpPr>
        <p:spPr>
          <a:xfrm>
            <a:off x="548640" y="3108960"/>
            <a:ext cx="6035040" cy="1417320"/>
          </a:xfrm>
          <a:prstGeom prst="roundRect">
            <a:avLst>
              <a:gd name="adj" fmla="val 7742"/>
            </a:avLst>
          </a:prstGeom>
          <a:solidFill>
            <a:schemeClr val="bg2"/>
          </a:solidFill>
          <a:ln w="12700">
            <a:solidFill>
              <a:schemeClr val="bg2"/>
            </a:solidFill>
            <a:prstDash val="solid"/>
          </a:ln>
        </p:spPr>
      </p:sp>
      <p:sp>
        <p:nvSpPr>
          <p:cNvPr id="9" name="Icon disc 2"/>
          <p:cNvSpPr/>
          <p:nvPr/>
        </p:nvSpPr>
        <p:spPr>
          <a:xfrm>
            <a:off x="777240" y="3520440"/>
            <a:ext cx="594360" cy="594360"/>
          </a:xfrm>
          <a:prstGeom prst="ellipse">
            <a:avLst/>
          </a:prstGeom>
          <a:solidFill>
            <a:schemeClr val="accent1"/>
          </a:solidFill>
          <a:ln w="12700">
            <a:solidFill>
              <a:schemeClr val="accent1"/>
            </a:solidFill>
            <a:prstDash val="solid"/>
          </a:ln>
        </p:spPr>
      </p:sp>
      <p:pic>
        <p:nvPicPr>
          <p:cNvPr id="10" name="Image 1" descr="Why it matters icon"/>
          <p:cNvPicPr>
            <a:picLocks noChangeAspect="1"/>
          </p:cNvPicPr>
          <p:nvPr/>
        </p:nvPicPr>
        <p:blipFill>
          <a:blip r:embed="rId4"/>
          <a:stretch>
            <a:fillRect/>
          </a:stretch>
        </p:blipFill>
        <p:spPr>
          <a:xfrm>
            <a:off x="932688" y="3675888"/>
            <a:ext cx="283464" cy="283464"/>
          </a:xfrm>
          <a:prstGeom prst="rect">
            <a:avLst/>
          </a:prstGeom>
        </p:spPr>
      </p:pic>
      <p:sp>
        <p:nvSpPr>
          <p:cNvPr id="11" name="Intro text 2"/>
          <p:cNvSpPr txBox="1"/>
          <p:nvPr/>
        </p:nvSpPr>
        <p:spPr>
          <a:xfrm>
            <a:off x="1600200" y="3200400"/>
            <a:ext cx="4846320" cy="1234440"/>
          </a:xfrm>
          <a:prstGeom prst="rect">
            <a:avLst/>
          </a:prstGeom>
          <a:noFill/>
          <a:ln/>
        </p:spPr>
        <p:txBody>
          <a:bodyPr wrap="square" lIns="0" tIns="0" rIns="0" bIns="0" rtlCol="0" anchor="ctr"/>
          <a:lstStyle/>
          <a:p>
            <a:pPr marL="0" indent="0">
              <a:buNone/>
            </a:pPr>
            <a:r>
              <a:rPr lang="en-US" sz="1800" b="1" dirty="0">
                <a:solidFill>
                  <a:schemeClr val="tx1"/>
                </a:solidFill>
              </a:rPr>
              <a:t>Why it matters</a:t>
            </a:r>
            <a:endParaRPr lang="en-US" sz="1800" dirty="0"/>
          </a:p>
          <a:p>
            <a:pPr marL="0" indent="0">
              <a:buNone/>
            </a:pPr>
            <a:r>
              <a:rPr lang="en-US" sz="1400" dirty="0">
                <a:solidFill>
                  <a:schemeClr val="tx2"/>
                </a:solidFill>
              </a:rPr>
              <a:t>The hottest spot, not the average, sets when a chip throttles. Heat also raises leakage and wears out the silicon faster.</a:t>
            </a:r>
            <a:endParaRPr lang="en-US" sz="1800" dirty="0"/>
          </a:p>
        </p:txBody>
      </p:sp>
      <p:sp>
        <p:nvSpPr>
          <p:cNvPr id="12" name="Intro card 3"/>
          <p:cNvSpPr/>
          <p:nvPr/>
        </p:nvSpPr>
        <p:spPr>
          <a:xfrm>
            <a:off x="548640" y="4709160"/>
            <a:ext cx="6035040" cy="1417320"/>
          </a:xfrm>
          <a:prstGeom prst="roundRect">
            <a:avLst>
              <a:gd name="adj" fmla="val 7742"/>
            </a:avLst>
          </a:prstGeom>
          <a:solidFill>
            <a:schemeClr val="bg2"/>
          </a:solidFill>
          <a:ln w="12700">
            <a:solidFill>
              <a:schemeClr val="bg2"/>
            </a:solidFill>
            <a:prstDash val="solid"/>
          </a:ln>
        </p:spPr>
      </p:sp>
      <p:sp>
        <p:nvSpPr>
          <p:cNvPr id="13" name="Icon disc 3"/>
          <p:cNvSpPr/>
          <p:nvPr/>
        </p:nvSpPr>
        <p:spPr>
          <a:xfrm>
            <a:off x="777240" y="5120640"/>
            <a:ext cx="594360" cy="594360"/>
          </a:xfrm>
          <a:prstGeom prst="ellipse">
            <a:avLst/>
          </a:prstGeom>
          <a:solidFill>
            <a:schemeClr val="accent1"/>
          </a:solidFill>
          <a:ln w="12700">
            <a:solidFill>
              <a:schemeClr val="accent1"/>
            </a:solidFill>
            <a:prstDash val="solid"/>
          </a:ln>
        </p:spPr>
      </p:sp>
      <p:pic>
        <p:nvPicPr>
          <p:cNvPr id="14" name="Image 2" descr="How we solved it icon"/>
          <p:cNvPicPr>
            <a:picLocks noChangeAspect="1"/>
          </p:cNvPicPr>
          <p:nvPr/>
        </p:nvPicPr>
        <p:blipFill>
          <a:blip r:embed="rId5"/>
          <a:stretch>
            <a:fillRect/>
          </a:stretch>
        </p:blipFill>
        <p:spPr>
          <a:xfrm>
            <a:off x="932688" y="5276088"/>
            <a:ext cx="283464" cy="283464"/>
          </a:xfrm>
          <a:prstGeom prst="rect">
            <a:avLst/>
          </a:prstGeom>
        </p:spPr>
      </p:pic>
      <p:sp>
        <p:nvSpPr>
          <p:cNvPr id="15" name="Intro text 3"/>
          <p:cNvSpPr txBox="1"/>
          <p:nvPr/>
        </p:nvSpPr>
        <p:spPr>
          <a:xfrm>
            <a:off x="1600200" y="4800600"/>
            <a:ext cx="4846320" cy="1234440"/>
          </a:xfrm>
          <a:prstGeom prst="rect">
            <a:avLst/>
          </a:prstGeom>
          <a:noFill/>
          <a:ln/>
        </p:spPr>
        <p:txBody>
          <a:bodyPr wrap="square" lIns="0" tIns="0" rIns="0" bIns="0" rtlCol="0" anchor="ctr"/>
          <a:lstStyle/>
          <a:p>
            <a:pPr marL="0" indent="0">
              <a:buNone/>
            </a:pPr>
            <a:r>
              <a:rPr lang="en-US" sz="1800" b="1" dirty="0">
                <a:solidFill>
                  <a:schemeClr val="tx1"/>
                </a:solidFill>
              </a:rPr>
              <a:t>How we solved it</a:t>
            </a:r>
            <a:endParaRPr lang="en-US" sz="1800" dirty="0"/>
          </a:p>
          <a:p>
            <a:pPr marL="0" indent="0">
              <a:buNone/>
            </a:pPr>
            <a:r>
              <a:rPr lang="en-US" sz="1400" dirty="0">
                <a:solidFill>
                  <a:schemeClr val="tx2"/>
                </a:solidFill>
              </a:rPr>
              <a:t>One chain of mathematics: heat PDE, Laplace transform, finite differences, then a linear program that uses the same matrix.</a:t>
            </a:r>
            <a:endParaRPr lang="en-US" sz="1800" dirty="0"/>
          </a:p>
        </p:txBody>
      </p:sp>
      <p:sp>
        <p:nvSpPr>
          <p:cNvPr id="16" name="Heat sink frame"/>
          <p:cNvSpPr/>
          <p:nvPr/>
        </p:nvSpPr>
        <p:spPr>
          <a:xfrm>
            <a:off x="7269480" y="1417320"/>
            <a:ext cx="4206240" cy="4206240"/>
          </a:xfrm>
          <a:prstGeom prst="rect">
            <a:avLst/>
          </a:prstGeom>
          <a:solidFill>
            <a:schemeClr val="accent3"/>
          </a:solidFill>
          <a:ln w="12700">
            <a:solidFill>
              <a:schemeClr val="accent3"/>
            </a:solidFill>
            <a:prstDash val="solid"/>
          </a:ln>
        </p:spPr>
      </p:sp>
      <p:sp>
        <p:nvSpPr>
          <p:cNvPr id="17" name="Die"/>
          <p:cNvSpPr/>
          <p:nvPr/>
        </p:nvSpPr>
        <p:spPr>
          <a:xfrm>
            <a:off x="7406640" y="1554480"/>
            <a:ext cx="3931920" cy="3931920"/>
          </a:xfrm>
          <a:prstGeom prst="rect">
            <a:avLst/>
          </a:prstGeom>
          <a:solidFill>
            <a:schemeClr val="bg2"/>
          </a:solidFill>
          <a:ln w="12700">
            <a:solidFill>
              <a:schemeClr val="bg2"/>
            </a:solidFill>
            <a:prstDash val="solid"/>
          </a:ln>
        </p:spPr>
      </p:sp>
      <p:sp>
        <p:nvSpPr>
          <p:cNvPr id="18" name="Core 0"/>
          <p:cNvSpPr/>
          <p:nvPr/>
        </p:nvSpPr>
        <p:spPr>
          <a:xfrm>
            <a:off x="7680960" y="1828800"/>
            <a:ext cx="1297534" cy="1297534"/>
          </a:xfrm>
          <a:prstGeom prst="rect">
            <a:avLst/>
          </a:prstGeom>
          <a:solidFill>
            <a:schemeClr val="accent1"/>
          </a:solidFill>
          <a:ln w="12700">
            <a:solidFill>
              <a:schemeClr val="accent1"/>
            </a:solidFill>
            <a:prstDash val="solid"/>
          </a:ln>
        </p:spPr>
      </p:sp>
      <p:sp>
        <p:nvSpPr>
          <p:cNvPr id="19" name="Core label 0"/>
          <p:cNvSpPr txBox="1"/>
          <p:nvPr/>
        </p:nvSpPr>
        <p:spPr>
          <a:xfrm>
            <a:off x="7680960" y="1828800"/>
            <a:ext cx="1297534" cy="1297534"/>
          </a:xfrm>
          <a:prstGeom prst="rect">
            <a:avLst/>
          </a:prstGeom>
          <a:noFill/>
          <a:ln/>
        </p:spPr>
        <p:txBody>
          <a:bodyPr wrap="square" lIns="0" tIns="0" rIns="0" bIns="0" rtlCol="0" anchor="ctr"/>
          <a:lstStyle/>
          <a:p>
            <a:pPr marL="0" indent="0" algn="ctr">
              <a:buNone/>
            </a:pPr>
            <a:r>
              <a:rPr lang="en-US" sz="1600" b="1" dirty="0">
                <a:solidFill>
                  <a:schemeClr val="bg1"/>
                </a:solidFill>
              </a:rPr>
              <a:t>Core 0</a:t>
            </a:r>
            <a:endParaRPr lang="en-US" sz="1600" dirty="0"/>
          </a:p>
        </p:txBody>
      </p:sp>
      <p:sp>
        <p:nvSpPr>
          <p:cNvPr id="20" name="Core 1"/>
          <p:cNvSpPr/>
          <p:nvPr/>
        </p:nvSpPr>
        <p:spPr>
          <a:xfrm>
            <a:off x="9766706" y="1828800"/>
            <a:ext cx="1297534" cy="1297534"/>
          </a:xfrm>
          <a:prstGeom prst="rect">
            <a:avLst/>
          </a:prstGeom>
          <a:solidFill>
            <a:schemeClr val="accent1"/>
          </a:solidFill>
          <a:ln w="12700">
            <a:solidFill>
              <a:schemeClr val="accent1"/>
            </a:solidFill>
            <a:prstDash val="solid"/>
          </a:ln>
        </p:spPr>
      </p:sp>
      <p:sp>
        <p:nvSpPr>
          <p:cNvPr id="21" name="Core label 1"/>
          <p:cNvSpPr txBox="1"/>
          <p:nvPr/>
        </p:nvSpPr>
        <p:spPr>
          <a:xfrm>
            <a:off x="9766706" y="1828800"/>
            <a:ext cx="1297534" cy="1297534"/>
          </a:xfrm>
          <a:prstGeom prst="rect">
            <a:avLst/>
          </a:prstGeom>
          <a:noFill/>
          <a:ln/>
        </p:spPr>
        <p:txBody>
          <a:bodyPr wrap="square" lIns="0" tIns="0" rIns="0" bIns="0" rtlCol="0" anchor="ctr"/>
          <a:lstStyle/>
          <a:p>
            <a:pPr marL="0" indent="0" algn="ctr">
              <a:buNone/>
            </a:pPr>
            <a:r>
              <a:rPr lang="en-US" sz="1600" b="1" dirty="0">
                <a:solidFill>
                  <a:schemeClr val="bg1"/>
                </a:solidFill>
              </a:rPr>
              <a:t>Core 1</a:t>
            </a:r>
            <a:endParaRPr lang="en-US" sz="1600" dirty="0"/>
          </a:p>
        </p:txBody>
      </p:sp>
      <p:sp>
        <p:nvSpPr>
          <p:cNvPr id="22" name="Core 2"/>
          <p:cNvSpPr/>
          <p:nvPr/>
        </p:nvSpPr>
        <p:spPr>
          <a:xfrm>
            <a:off x="7680960" y="3914546"/>
            <a:ext cx="1297534" cy="1297534"/>
          </a:xfrm>
          <a:prstGeom prst="rect">
            <a:avLst/>
          </a:prstGeom>
          <a:solidFill>
            <a:schemeClr val="accent1"/>
          </a:solidFill>
          <a:ln w="12700">
            <a:solidFill>
              <a:schemeClr val="accent1"/>
            </a:solidFill>
            <a:prstDash val="solid"/>
          </a:ln>
        </p:spPr>
      </p:sp>
      <p:sp>
        <p:nvSpPr>
          <p:cNvPr id="23" name="Core label 2"/>
          <p:cNvSpPr txBox="1"/>
          <p:nvPr/>
        </p:nvSpPr>
        <p:spPr>
          <a:xfrm>
            <a:off x="7680960" y="3914546"/>
            <a:ext cx="1297534" cy="1297534"/>
          </a:xfrm>
          <a:prstGeom prst="rect">
            <a:avLst/>
          </a:prstGeom>
          <a:noFill/>
          <a:ln/>
        </p:spPr>
        <p:txBody>
          <a:bodyPr wrap="square" lIns="0" tIns="0" rIns="0" bIns="0" rtlCol="0" anchor="ctr"/>
          <a:lstStyle/>
          <a:p>
            <a:pPr marL="0" indent="0" algn="ctr">
              <a:buNone/>
            </a:pPr>
            <a:r>
              <a:rPr lang="en-US" sz="1600" b="1" dirty="0">
                <a:solidFill>
                  <a:schemeClr val="bg1"/>
                </a:solidFill>
              </a:rPr>
              <a:t>Core 2</a:t>
            </a:r>
            <a:endParaRPr lang="en-US" sz="1600" dirty="0"/>
          </a:p>
        </p:txBody>
      </p:sp>
      <p:sp>
        <p:nvSpPr>
          <p:cNvPr id="24" name="Core 3"/>
          <p:cNvSpPr/>
          <p:nvPr/>
        </p:nvSpPr>
        <p:spPr>
          <a:xfrm>
            <a:off x="9766706" y="3914546"/>
            <a:ext cx="1297534" cy="1297534"/>
          </a:xfrm>
          <a:prstGeom prst="rect">
            <a:avLst/>
          </a:prstGeom>
          <a:solidFill>
            <a:schemeClr val="accent1"/>
          </a:solidFill>
          <a:ln w="12700">
            <a:solidFill>
              <a:schemeClr val="accent1"/>
            </a:solidFill>
            <a:prstDash val="solid"/>
          </a:ln>
        </p:spPr>
      </p:sp>
      <p:sp>
        <p:nvSpPr>
          <p:cNvPr id="25" name="Core label 3"/>
          <p:cNvSpPr txBox="1"/>
          <p:nvPr/>
        </p:nvSpPr>
        <p:spPr>
          <a:xfrm>
            <a:off x="9766706" y="3914546"/>
            <a:ext cx="1297534" cy="1297534"/>
          </a:xfrm>
          <a:prstGeom prst="rect">
            <a:avLst/>
          </a:prstGeom>
          <a:noFill/>
          <a:ln/>
        </p:spPr>
        <p:txBody>
          <a:bodyPr wrap="square" lIns="0" tIns="0" rIns="0" bIns="0" rtlCol="0" anchor="ctr"/>
          <a:lstStyle/>
          <a:p>
            <a:pPr marL="0" indent="0" algn="ctr">
              <a:buNone/>
            </a:pPr>
            <a:r>
              <a:rPr lang="en-US" sz="1600" b="1" dirty="0">
                <a:solidFill>
                  <a:schemeClr val="bg1"/>
                </a:solidFill>
              </a:rPr>
              <a:t>Core 3</a:t>
            </a:r>
            <a:endParaRPr lang="en-US" sz="1600" dirty="0"/>
          </a:p>
        </p:txBody>
      </p:sp>
      <p:sp>
        <p:nvSpPr>
          <p:cNvPr id="26" name="L2 cache"/>
          <p:cNvSpPr/>
          <p:nvPr/>
        </p:nvSpPr>
        <p:spPr>
          <a:xfrm>
            <a:off x="8841791" y="2989631"/>
            <a:ext cx="1061618" cy="1061618"/>
          </a:xfrm>
          <a:prstGeom prst="rect">
            <a:avLst/>
          </a:prstGeom>
          <a:solidFill>
            <a:schemeClr val="accent2"/>
          </a:solidFill>
          <a:ln w="25400">
            <a:solidFill>
              <a:schemeClr val="bg1"/>
            </a:solidFill>
            <a:prstDash val="solid"/>
          </a:ln>
        </p:spPr>
      </p:sp>
      <p:sp>
        <p:nvSpPr>
          <p:cNvPr id="27" name="L2 label"/>
          <p:cNvSpPr txBox="1"/>
          <p:nvPr/>
        </p:nvSpPr>
        <p:spPr>
          <a:xfrm>
            <a:off x="8841791" y="2989631"/>
            <a:ext cx="1061618" cy="1061618"/>
          </a:xfrm>
          <a:prstGeom prst="rect">
            <a:avLst/>
          </a:prstGeom>
          <a:noFill/>
          <a:ln/>
        </p:spPr>
        <p:txBody>
          <a:bodyPr wrap="square" lIns="0" tIns="0" rIns="0" bIns="0" rtlCol="0" anchor="ctr"/>
          <a:lstStyle/>
          <a:p>
            <a:pPr marL="0" indent="0" algn="ctr">
              <a:buNone/>
            </a:pPr>
            <a:r>
              <a:rPr lang="en-US" sz="1500" b="1" dirty="0">
                <a:solidFill>
                  <a:schemeClr val="tx1"/>
                </a:solidFill>
              </a:rPr>
              <a:t>Shared L2</a:t>
            </a:r>
            <a:endParaRPr lang="en-US" sz="1500" dirty="0"/>
          </a:p>
        </p:txBody>
      </p:sp>
      <p:sp>
        <p:nvSpPr>
          <p:cNvPr id="28" name="Floorplan caption"/>
          <p:cNvSpPr txBox="1"/>
          <p:nvPr/>
        </p:nvSpPr>
        <p:spPr>
          <a:xfrm>
            <a:off x="7269480" y="5760720"/>
            <a:ext cx="4206240" cy="548640"/>
          </a:xfrm>
          <a:prstGeom prst="rect">
            <a:avLst/>
          </a:prstGeom>
          <a:noFill/>
          <a:ln/>
        </p:spPr>
        <p:txBody>
          <a:bodyPr wrap="square" lIns="0" tIns="0" rIns="0" bIns="0" rtlCol="0" anchor="ctr"/>
          <a:lstStyle/>
          <a:p>
            <a:pPr marL="0" indent="0">
              <a:buNone/>
            </a:pPr>
            <a:r>
              <a:rPr lang="en-US" sz="1200" dirty="0">
                <a:solidFill>
                  <a:schemeClr val="accent5"/>
                </a:solidFill>
              </a:rPr>
              <a:t>Edges held at 300 K by the heat sink. The L2 cache sits in the center, the worst-cooled spot.</a:t>
            </a:r>
            <a:endParaRPr lang="en-US" sz="1200" dirty="0"/>
          </a:p>
        </p:txBody>
      </p:sp>
      <p:sp>
        <p:nvSpPr>
          <p:cNvPr id="29"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label"/>
          <p:cNvSpPr txBox="1"/>
          <p:nvPr/>
        </p:nvSpPr>
        <p:spPr>
          <a:xfrm>
            <a:off x="548640" y="228600"/>
            <a:ext cx="73152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2  OUR EMBODIMENT</a:t>
            </a:r>
            <a:endParaRPr lang="en-US" sz="1200" dirty="0"/>
          </a:p>
        </p:txBody>
      </p:sp>
      <p:sp>
        <p:nvSpPr>
          <p:cNvPr id="3" name="Text 0"/>
          <p:cNvSpPr>
            <a:spLocks noGrp="1"/>
          </p:cNvSpPr>
          <p:nvPr>
            <p:ph type="title" idx="100" hasCustomPrompt="1"/>
          </p:nvPr>
        </p:nvSpPr>
        <p:spPr>
          <a:xfrm>
            <a:off x="548640" y="502920"/>
            <a:ext cx="11064240" cy="731520"/>
          </a:xfrm>
          <a:prstGeom prst="rect">
            <a:avLst/>
          </a:prstGeom>
          <a:noFill/>
          <a:ln/>
        </p:spPr>
        <p:txBody>
          <a:bodyPr wrap="square" lIns="0" tIns="0" rIns="0" bIns="0" rtlCol="0" anchor="ctr"/>
          <a:lstStyle/>
          <a:p>
            <a:pPr marL="0" indent="0" algn="l">
              <a:buNone/>
            </a:pPr>
            <a:r>
              <a:rPr lang="en-US" sz="3400" b="1" dirty="0">
                <a:solidFill>
                  <a:schemeClr val="tx1"/>
                </a:solidFill>
              </a:rPr>
              <a:t>Our Embodiment: Why a Quad-Core RISC-V Chip</a:t>
            </a:r>
            <a:endParaRPr lang="en-US" sz="3400" dirty="0"/>
          </a:p>
        </p:txBody>
      </p:sp>
      <p:sp>
        <p:nvSpPr>
          <p:cNvPr id="4" name="Embodiment card 1"/>
          <p:cNvSpPr/>
          <p:nvPr/>
        </p:nvSpPr>
        <p:spPr>
          <a:xfrm>
            <a:off x="548640" y="1463040"/>
            <a:ext cx="3520440" cy="3886200"/>
          </a:xfrm>
          <a:prstGeom prst="roundRect">
            <a:avLst>
              <a:gd name="adj" fmla="val 3117"/>
            </a:avLst>
          </a:prstGeom>
          <a:solidFill>
            <a:schemeClr val="bg2"/>
          </a:solidFill>
          <a:ln w="12700">
            <a:solidFill>
              <a:schemeClr val="bg2"/>
            </a:solidFill>
            <a:prstDash val="solid"/>
          </a:ln>
        </p:spPr>
      </p:sp>
      <p:sp>
        <p:nvSpPr>
          <p:cNvPr id="5" name="Embodiment card 2"/>
          <p:cNvSpPr/>
          <p:nvPr/>
        </p:nvSpPr>
        <p:spPr>
          <a:xfrm>
            <a:off x="4320540" y="1463040"/>
            <a:ext cx="3520440" cy="3886200"/>
          </a:xfrm>
          <a:prstGeom prst="roundRect">
            <a:avLst>
              <a:gd name="adj" fmla="val 3117"/>
            </a:avLst>
          </a:prstGeom>
          <a:solidFill>
            <a:schemeClr val="bg2"/>
          </a:solidFill>
          <a:ln w="12700">
            <a:solidFill>
              <a:schemeClr val="bg2"/>
            </a:solidFill>
            <a:prstDash val="solid"/>
          </a:ln>
        </p:spPr>
      </p:sp>
      <p:sp>
        <p:nvSpPr>
          <p:cNvPr id="6" name="Embodiment card 3"/>
          <p:cNvSpPr/>
          <p:nvPr/>
        </p:nvSpPr>
        <p:spPr>
          <a:xfrm>
            <a:off x="8092440" y="1463040"/>
            <a:ext cx="3520440" cy="3886200"/>
          </a:xfrm>
          <a:prstGeom prst="roundRect">
            <a:avLst>
              <a:gd name="adj" fmla="val 3117"/>
            </a:avLst>
          </a:prstGeom>
          <a:solidFill>
            <a:schemeClr val="bg2"/>
          </a:solidFill>
          <a:ln w="12700">
            <a:solidFill>
              <a:schemeClr val="bg2"/>
            </a:solidFill>
            <a:prstDash val="solid"/>
          </a:ln>
        </p:spPr>
      </p:sp>
      <p:sp>
        <p:nvSpPr>
          <p:cNvPr id="7" name="Column head 1"/>
          <p:cNvSpPr txBox="1"/>
          <p:nvPr/>
        </p:nvSpPr>
        <p:spPr>
          <a:xfrm>
            <a:off x="822960" y="1691640"/>
            <a:ext cx="2971800" cy="457200"/>
          </a:xfrm>
          <a:prstGeom prst="rect">
            <a:avLst/>
          </a:prstGeom>
          <a:noFill/>
          <a:ln/>
        </p:spPr>
        <p:txBody>
          <a:bodyPr wrap="square" lIns="0" tIns="0" rIns="0" bIns="0" rtlCol="0" anchor="ctr"/>
          <a:lstStyle/>
          <a:p>
            <a:pPr marL="0" indent="0">
              <a:buNone/>
            </a:pPr>
            <a:r>
              <a:rPr lang="en-US" sz="2000" b="1" dirty="0">
                <a:solidFill>
                  <a:schemeClr val="tx1"/>
                </a:solidFill>
              </a:rPr>
              <a:t>The Brief</a:t>
            </a:r>
            <a:endParaRPr lang="en-US" sz="2000" dirty="0"/>
          </a:p>
        </p:txBody>
      </p:sp>
      <p:sp>
        <p:nvSpPr>
          <p:cNvPr id="8" name="Column head 2"/>
          <p:cNvSpPr txBox="1"/>
          <p:nvPr/>
        </p:nvSpPr>
        <p:spPr>
          <a:xfrm>
            <a:off x="4594860" y="1691640"/>
            <a:ext cx="2971800" cy="457200"/>
          </a:xfrm>
          <a:prstGeom prst="rect">
            <a:avLst/>
          </a:prstGeom>
          <a:noFill/>
          <a:ln/>
        </p:spPr>
        <p:txBody>
          <a:bodyPr wrap="square" lIns="0" tIns="0" rIns="0" bIns="0" rtlCol="0" anchor="ctr"/>
          <a:lstStyle/>
          <a:p>
            <a:pPr marL="0" indent="0">
              <a:buNone/>
            </a:pPr>
            <a:r>
              <a:rPr lang="en-US" sz="2000" b="1" dirty="0">
                <a:solidFill>
                  <a:schemeClr val="tx1"/>
                </a:solidFill>
              </a:rPr>
              <a:t>Our Choice</a:t>
            </a:r>
            <a:endParaRPr lang="en-US" sz="2000" dirty="0"/>
          </a:p>
        </p:txBody>
      </p:sp>
      <p:sp>
        <p:nvSpPr>
          <p:cNvPr id="9" name="Column head 3"/>
          <p:cNvSpPr txBox="1"/>
          <p:nvPr/>
        </p:nvSpPr>
        <p:spPr>
          <a:xfrm>
            <a:off x="8366760" y="1691640"/>
            <a:ext cx="2971800" cy="457200"/>
          </a:xfrm>
          <a:prstGeom prst="rect">
            <a:avLst/>
          </a:prstGeom>
          <a:noFill/>
          <a:ln/>
        </p:spPr>
        <p:txBody>
          <a:bodyPr wrap="square" lIns="0" tIns="0" rIns="0" bIns="0" rtlCol="0" anchor="ctr"/>
          <a:lstStyle/>
          <a:p>
            <a:pPr marL="0" indent="0">
              <a:buNone/>
            </a:pPr>
            <a:r>
              <a:rPr lang="en-US" sz="2000" b="1" dirty="0">
                <a:solidFill>
                  <a:schemeClr val="tx1"/>
                </a:solidFill>
              </a:rPr>
              <a:t>Why RISC-V</a:t>
            </a:r>
            <a:endParaRPr lang="en-US" sz="2000" dirty="0"/>
          </a:p>
        </p:txBody>
      </p:sp>
      <p:sp>
        <p:nvSpPr>
          <p:cNvPr id="10" name="Brief die icon"/>
          <p:cNvSpPr/>
          <p:nvPr/>
        </p:nvSpPr>
        <p:spPr>
          <a:xfrm>
            <a:off x="822960" y="2286000"/>
            <a:ext cx="1188720" cy="1188720"/>
          </a:xfrm>
          <a:prstGeom prst="rect">
            <a:avLst/>
          </a:prstGeom>
          <a:solidFill>
            <a:schemeClr val="bg1"/>
          </a:solidFill>
          <a:ln w="19050">
            <a:solidFill>
              <a:schemeClr val="accent5"/>
            </a:solidFill>
            <a:prstDash val="solid"/>
          </a:ln>
        </p:spPr>
      </p:sp>
      <p:sp>
        <p:nvSpPr>
          <p:cNvPr id="11" name="Brief block 0"/>
          <p:cNvSpPr/>
          <p:nvPr/>
        </p:nvSpPr>
        <p:spPr>
          <a:xfrm>
            <a:off x="969264" y="2432304"/>
            <a:ext cx="384048" cy="384048"/>
          </a:xfrm>
          <a:prstGeom prst="rect">
            <a:avLst/>
          </a:prstGeom>
          <a:solidFill>
            <a:schemeClr val="accent1"/>
          </a:solidFill>
          <a:ln w="12700">
            <a:solidFill>
              <a:schemeClr val="accent1"/>
            </a:solidFill>
            <a:prstDash val="solid"/>
          </a:ln>
        </p:spPr>
      </p:sp>
      <p:sp>
        <p:nvSpPr>
          <p:cNvPr id="12" name="Brief block 1"/>
          <p:cNvSpPr/>
          <p:nvPr/>
        </p:nvSpPr>
        <p:spPr>
          <a:xfrm>
            <a:off x="1481328" y="2432304"/>
            <a:ext cx="384048" cy="384048"/>
          </a:xfrm>
          <a:prstGeom prst="rect">
            <a:avLst/>
          </a:prstGeom>
          <a:solidFill>
            <a:schemeClr val="accent1"/>
          </a:solidFill>
          <a:ln w="12700">
            <a:solidFill>
              <a:schemeClr val="accent1"/>
            </a:solidFill>
            <a:prstDash val="solid"/>
          </a:ln>
        </p:spPr>
      </p:sp>
      <p:sp>
        <p:nvSpPr>
          <p:cNvPr id="13" name="Brief block 2"/>
          <p:cNvSpPr/>
          <p:nvPr/>
        </p:nvSpPr>
        <p:spPr>
          <a:xfrm>
            <a:off x="969264" y="2944368"/>
            <a:ext cx="384048" cy="384048"/>
          </a:xfrm>
          <a:prstGeom prst="rect">
            <a:avLst/>
          </a:prstGeom>
          <a:solidFill>
            <a:schemeClr val="accent1"/>
          </a:solidFill>
          <a:ln w="12700">
            <a:solidFill>
              <a:schemeClr val="accent1"/>
            </a:solidFill>
            <a:prstDash val="solid"/>
          </a:ln>
        </p:spPr>
      </p:sp>
      <p:sp>
        <p:nvSpPr>
          <p:cNvPr id="14" name="Brief block 3"/>
          <p:cNvSpPr/>
          <p:nvPr/>
        </p:nvSpPr>
        <p:spPr>
          <a:xfrm>
            <a:off x="1481328" y="2944368"/>
            <a:ext cx="384048" cy="384048"/>
          </a:xfrm>
          <a:prstGeom prst="rect">
            <a:avLst/>
          </a:prstGeom>
          <a:solidFill>
            <a:schemeClr val="accent1"/>
          </a:solidFill>
          <a:ln w="12700">
            <a:solidFill>
              <a:schemeClr val="accent1"/>
            </a:solidFill>
            <a:prstDash val="solid"/>
          </a:ln>
        </p:spPr>
      </p:sp>
      <p:sp>
        <p:nvSpPr>
          <p:cNvPr id="15" name="Brief text"/>
          <p:cNvSpPr txBox="1"/>
          <p:nvPr/>
        </p:nvSpPr>
        <p:spPr>
          <a:xfrm>
            <a:off x="822960" y="3703320"/>
            <a:ext cx="2971800" cy="1463040"/>
          </a:xfrm>
          <a:prstGeom prst="rect">
            <a:avLst/>
          </a:prstGeom>
          <a:noFill/>
          <a:ln/>
        </p:spPr>
        <p:txBody>
          <a:bodyPr wrap="square" lIns="0" tIns="0" rIns="0" bIns="0" rtlCol="0" anchor="t"/>
          <a:lstStyle/>
          <a:p>
            <a:pPr marL="0" indent="0">
              <a:buNone/>
            </a:pPr>
            <a:r>
              <a:rPr lang="en-US" sz="1600" dirty="0">
                <a:solidFill>
                  <a:schemeClr val="tx2"/>
                </a:solidFill>
              </a:rPr>
              <a:t>Four heat-generating blocks sit on a 10 mm x 10 mm die that shares a 5 W budget. Choose each block's power to minimize the hottest point.</a:t>
            </a:r>
            <a:endParaRPr lang="en-US" sz="1600" dirty="0"/>
          </a:p>
        </p:txBody>
      </p:sp>
      <p:sp>
        <p:nvSpPr>
          <p:cNvPr id="16" name="Heat sink frame"/>
          <p:cNvSpPr/>
          <p:nvPr/>
        </p:nvSpPr>
        <p:spPr>
          <a:xfrm>
            <a:off x="4594860" y="2240280"/>
            <a:ext cx="3017520" cy="3017520"/>
          </a:xfrm>
          <a:prstGeom prst="rect">
            <a:avLst/>
          </a:prstGeom>
          <a:solidFill>
            <a:schemeClr val="accent3"/>
          </a:solidFill>
          <a:ln w="12700">
            <a:solidFill>
              <a:schemeClr val="accent3"/>
            </a:solidFill>
            <a:prstDash val="solid"/>
          </a:ln>
        </p:spPr>
      </p:sp>
      <p:sp>
        <p:nvSpPr>
          <p:cNvPr id="17" name="Die"/>
          <p:cNvSpPr/>
          <p:nvPr/>
        </p:nvSpPr>
        <p:spPr>
          <a:xfrm>
            <a:off x="4732020" y="2377440"/>
            <a:ext cx="2743200" cy="2743200"/>
          </a:xfrm>
          <a:prstGeom prst="rect">
            <a:avLst/>
          </a:prstGeom>
          <a:solidFill>
            <a:schemeClr val="bg2"/>
          </a:solidFill>
          <a:ln w="12700">
            <a:solidFill>
              <a:schemeClr val="bg2"/>
            </a:solidFill>
            <a:prstDash val="solid"/>
          </a:ln>
        </p:spPr>
      </p:sp>
      <p:sp>
        <p:nvSpPr>
          <p:cNvPr id="18" name="Core 0"/>
          <p:cNvSpPr/>
          <p:nvPr/>
        </p:nvSpPr>
        <p:spPr>
          <a:xfrm>
            <a:off x="5006340" y="2651760"/>
            <a:ext cx="905256" cy="905256"/>
          </a:xfrm>
          <a:prstGeom prst="rect">
            <a:avLst/>
          </a:prstGeom>
          <a:solidFill>
            <a:schemeClr val="accent1"/>
          </a:solidFill>
          <a:ln w="12700">
            <a:solidFill>
              <a:schemeClr val="accent1"/>
            </a:solidFill>
            <a:prstDash val="solid"/>
          </a:ln>
        </p:spPr>
      </p:sp>
      <p:sp>
        <p:nvSpPr>
          <p:cNvPr id="19" name="Core label 0"/>
          <p:cNvSpPr txBox="1"/>
          <p:nvPr/>
        </p:nvSpPr>
        <p:spPr>
          <a:xfrm>
            <a:off x="5006340" y="2651760"/>
            <a:ext cx="905256" cy="905256"/>
          </a:xfrm>
          <a:prstGeom prst="rect">
            <a:avLst/>
          </a:prstGeom>
          <a:noFill/>
          <a:ln/>
        </p:spPr>
        <p:txBody>
          <a:bodyPr wrap="square" lIns="0" tIns="0" rIns="0" bIns="0" rtlCol="0" anchor="ctr"/>
          <a:lstStyle/>
          <a:p>
            <a:pPr marL="0" indent="0" algn="ctr">
              <a:buNone/>
            </a:pPr>
            <a:r>
              <a:rPr lang="en-US" sz="1200" b="1" dirty="0">
                <a:solidFill>
                  <a:schemeClr val="bg1"/>
                </a:solidFill>
              </a:rPr>
              <a:t>Core 0</a:t>
            </a:r>
            <a:endParaRPr lang="en-US" sz="1200" dirty="0"/>
          </a:p>
        </p:txBody>
      </p:sp>
      <p:sp>
        <p:nvSpPr>
          <p:cNvPr id="20" name="Core 1"/>
          <p:cNvSpPr/>
          <p:nvPr/>
        </p:nvSpPr>
        <p:spPr>
          <a:xfrm>
            <a:off x="6295644" y="2651760"/>
            <a:ext cx="905256" cy="905256"/>
          </a:xfrm>
          <a:prstGeom prst="rect">
            <a:avLst/>
          </a:prstGeom>
          <a:solidFill>
            <a:schemeClr val="accent1"/>
          </a:solidFill>
          <a:ln w="12700">
            <a:solidFill>
              <a:schemeClr val="accent1"/>
            </a:solidFill>
            <a:prstDash val="solid"/>
          </a:ln>
        </p:spPr>
      </p:sp>
      <p:sp>
        <p:nvSpPr>
          <p:cNvPr id="21" name="Core label 1"/>
          <p:cNvSpPr txBox="1"/>
          <p:nvPr/>
        </p:nvSpPr>
        <p:spPr>
          <a:xfrm>
            <a:off x="6295644" y="2651760"/>
            <a:ext cx="905256" cy="905256"/>
          </a:xfrm>
          <a:prstGeom prst="rect">
            <a:avLst/>
          </a:prstGeom>
          <a:noFill/>
          <a:ln/>
        </p:spPr>
        <p:txBody>
          <a:bodyPr wrap="square" lIns="0" tIns="0" rIns="0" bIns="0" rtlCol="0" anchor="ctr"/>
          <a:lstStyle/>
          <a:p>
            <a:pPr marL="0" indent="0" algn="ctr">
              <a:buNone/>
            </a:pPr>
            <a:r>
              <a:rPr lang="en-US" sz="1200" b="1" dirty="0">
                <a:solidFill>
                  <a:schemeClr val="bg1"/>
                </a:solidFill>
              </a:rPr>
              <a:t>Core 1</a:t>
            </a:r>
            <a:endParaRPr lang="en-US" sz="1200" dirty="0"/>
          </a:p>
        </p:txBody>
      </p:sp>
      <p:sp>
        <p:nvSpPr>
          <p:cNvPr id="22" name="Core 2"/>
          <p:cNvSpPr/>
          <p:nvPr/>
        </p:nvSpPr>
        <p:spPr>
          <a:xfrm>
            <a:off x="5006340" y="3941064"/>
            <a:ext cx="905256" cy="905256"/>
          </a:xfrm>
          <a:prstGeom prst="rect">
            <a:avLst/>
          </a:prstGeom>
          <a:solidFill>
            <a:schemeClr val="accent1"/>
          </a:solidFill>
          <a:ln w="12700">
            <a:solidFill>
              <a:schemeClr val="accent1"/>
            </a:solidFill>
            <a:prstDash val="solid"/>
          </a:ln>
        </p:spPr>
      </p:sp>
      <p:sp>
        <p:nvSpPr>
          <p:cNvPr id="23" name="Core label 2"/>
          <p:cNvSpPr txBox="1"/>
          <p:nvPr/>
        </p:nvSpPr>
        <p:spPr>
          <a:xfrm>
            <a:off x="5006340" y="3941064"/>
            <a:ext cx="905256" cy="905256"/>
          </a:xfrm>
          <a:prstGeom prst="rect">
            <a:avLst/>
          </a:prstGeom>
          <a:noFill/>
          <a:ln/>
        </p:spPr>
        <p:txBody>
          <a:bodyPr wrap="square" lIns="0" tIns="0" rIns="0" bIns="0" rtlCol="0" anchor="ctr"/>
          <a:lstStyle/>
          <a:p>
            <a:pPr marL="0" indent="0" algn="ctr">
              <a:buNone/>
            </a:pPr>
            <a:r>
              <a:rPr lang="en-US" sz="1200" b="1" dirty="0">
                <a:solidFill>
                  <a:schemeClr val="bg1"/>
                </a:solidFill>
              </a:rPr>
              <a:t>Core 2</a:t>
            </a:r>
            <a:endParaRPr lang="en-US" sz="1200" dirty="0"/>
          </a:p>
        </p:txBody>
      </p:sp>
      <p:sp>
        <p:nvSpPr>
          <p:cNvPr id="24" name="Core 3"/>
          <p:cNvSpPr/>
          <p:nvPr/>
        </p:nvSpPr>
        <p:spPr>
          <a:xfrm>
            <a:off x="6295644" y="3941064"/>
            <a:ext cx="905256" cy="905256"/>
          </a:xfrm>
          <a:prstGeom prst="rect">
            <a:avLst/>
          </a:prstGeom>
          <a:solidFill>
            <a:schemeClr val="accent1"/>
          </a:solidFill>
          <a:ln w="12700">
            <a:solidFill>
              <a:schemeClr val="accent1"/>
            </a:solidFill>
            <a:prstDash val="solid"/>
          </a:ln>
        </p:spPr>
      </p:sp>
      <p:sp>
        <p:nvSpPr>
          <p:cNvPr id="25" name="Core label 3"/>
          <p:cNvSpPr txBox="1"/>
          <p:nvPr/>
        </p:nvSpPr>
        <p:spPr>
          <a:xfrm>
            <a:off x="6295644" y="3941064"/>
            <a:ext cx="905256" cy="905256"/>
          </a:xfrm>
          <a:prstGeom prst="rect">
            <a:avLst/>
          </a:prstGeom>
          <a:noFill/>
          <a:ln/>
        </p:spPr>
        <p:txBody>
          <a:bodyPr wrap="square" lIns="0" tIns="0" rIns="0" bIns="0" rtlCol="0" anchor="ctr"/>
          <a:lstStyle/>
          <a:p>
            <a:pPr marL="0" indent="0" algn="ctr">
              <a:buNone/>
            </a:pPr>
            <a:r>
              <a:rPr lang="en-US" sz="1200" b="1" dirty="0">
                <a:solidFill>
                  <a:schemeClr val="bg1"/>
                </a:solidFill>
              </a:rPr>
              <a:t>Core 3</a:t>
            </a:r>
            <a:endParaRPr lang="en-US" sz="1200" dirty="0"/>
          </a:p>
        </p:txBody>
      </p:sp>
      <p:sp>
        <p:nvSpPr>
          <p:cNvPr id="26" name="L2 cache"/>
          <p:cNvSpPr/>
          <p:nvPr/>
        </p:nvSpPr>
        <p:spPr>
          <a:xfrm>
            <a:off x="5733288" y="3378708"/>
            <a:ext cx="740664" cy="740664"/>
          </a:xfrm>
          <a:prstGeom prst="rect">
            <a:avLst/>
          </a:prstGeom>
          <a:solidFill>
            <a:schemeClr val="accent2"/>
          </a:solidFill>
          <a:ln w="25400">
            <a:solidFill>
              <a:schemeClr val="bg1"/>
            </a:solidFill>
            <a:prstDash val="solid"/>
          </a:ln>
        </p:spPr>
      </p:sp>
      <p:sp>
        <p:nvSpPr>
          <p:cNvPr id="27" name="L2 label"/>
          <p:cNvSpPr txBox="1"/>
          <p:nvPr/>
        </p:nvSpPr>
        <p:spPr>
          <a:xfrm>
            <a:off x="5733288" y="3378708"/>
            <a:ext cx="740664" cy="740664"/>
          </a:xfrm>
          <a:prstGeom prst="rect">
            <a:avLst/>
          </a:prstGeom>
          <a:noFill/>
          <a:ln/>
        </p:spPr>
        <p:txBody>
          <a:bodyPr wrap="square" lIns="0" tIns="0" rIns="0" bIns="0" rtlCol="0" anchor="ctr"/>
          <a:lstStyle/>
          <a:p>
            <a:pPr marL="0" indent="0" algn="ctr">
              <a:buNone/>
            </a:pPr>
            <a:r>
              <a:rPr lang="en-US" sz="1100" b="1" dirty="0">
                <a:solidFill>
                  <a:schemeClr val="tx1"/>
                </a:solidFill>
              </a:rPr>
              <a:t>Shared L2</a:t>
            </a:r>
            <a:endParaRPr lang="en-US" sz="1100" dirty="0"/>
          </a:p>
        </p:txBody>
      </p:sp>
      <p:sp>
        <p:nvSpPr>
          <p:cNvPr id="28" name="Why RISC-V bullets"/>
          <p:cNvSpPr txBox="1"/>
          <p:nvPr/>
        </p:nvSpPr>
        <p:spPr>
          <a:xfrm>
            <a:off x="8366760" y="2377440"/>
            <a:ext cx="2971800" cy="274320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tx2"/>
                </a:solidFill>
              </a:rPr>
              <a:t>FRISC-V: published RV32I core, University of Zagreb, 2024</a:t>
            </a:r>
            <a:endParaRPr lang="en-US" sz="1600" dirty="0"/>
          </a:p>
          <a:p>
            <a:pPr marL="342900" indent="-342900">
              <a:spcAft>
                <a:spcPts val="1400"/>
              </a:spcAft>
              <a:buSzPct val="100000"/>
              <a:buChar char="•"/>
            </a:pPr>
            <a:r>
              <a:rPr lang="en-US" sz="1600" dirty="0">
                <a:solidFill>
                  <a:schemeClr val="tx2"/>
                </a:solidFill>
              </a:rPr>
              <a:t>Open-source, FPGA-proven, and built for multicore</a:t>
            </a:r>
            <a:endParaRPr lang="en-US" sz="1600" dirty="0"/>
          </a:p>
          <a:p>
            <a:pPr marL="342900" indent="-342900">
              <a:spcAft>
                <a:spcPts val="1400"/>
              </a:spcAft>
              <a:buSzPct val="100000"/>
              <a:buChar char="•"/>
            </a:pPr>
            <a:r>
              <a:rPr lang="en-US" sz="1600" dirty="0">
                <a:solidFill>
                  <a:schemeClr val="tx2"/>
                </a:solidFill>
              </a:rPr>
              <a:t>Rejected: Intel 8051, a microwatt, single-core design</a:t>
            </a:r>
            <a:endParaRPr lang="en-US" sz="1600" dirty="0"/>
          </a:p>
        </p:txBody>
      </p:sp>
      <p:sp>
        <p:nvSpPr>
          <p:cNvPr id="29" name="Bottom strip"/>
          <p:cNvSpPr/>
          <p:nvPr/>
        </p:nvSpPr>
        <p:spPr>
          <a:xfrm>
            <a:off x="548640" y="5486400"/>
            <a:ext cx="11064240" cy="731520"/>
          </a:xfrm>
          <a:prstGeom prst="roundRect">
            <a:avLst>
              <a:gd name="adj" fmla="val 15000"/>
            </a:avLst>
          </a:prstGeom>
          <a:solidFill>
            <a:schemeClr val="tx1"/>
          </a:solidFill>
          <a:ln w="12700">
            <a:solidFill>
              <a:schemeClr val="tx1"/>
            </a:solidFill>
            <a:prstDash val="solid"/>
          </a:ln>
        </p:spPr>
      </p:sp>
      <p:sp>
        <p:nvSpPr>
          <p:cNvPr id="30" name="Bottom strip text"/>
          <p:cNvSpPr txBox="1"/>
          <p:nvPr/>
        </p:nvSpPr>
        <p:spPr>
          <a:xfrm>
            <a:off x="822960" y="5486400"/>
            <a:ext cx="10515600" cy="731520"/>
          </a:xfrm>
          <a:prstGeom prst="rect">
            <a:avLst/>
          </a:prstGeom>
          <a:noFill/>
          <a:ln/>
        </p:spPr>
        <p:txBody>
          <a:bodyPr wrap="square" lIns="0" tIns="0" rIns="0" bIns="0" rtlCol="0" anchor="ctr"/>
          <a:lstStyle/>
          <a:p>
            <a:pPr marL="0" indent="0">
              <a:buNone/>
            </a:pPr>
            <a:r>
              <a:rPr lang="en-US" sz="1600" dirty="0">
                <a:solidFill>
                  <a:schemeClr val="bg1"/>
                </a:solidFill>
              </a:rPr>
              <a:t>Die size, grid, and budget match the brief exactly. We chose a specific architecture to make the thermal problem concrete.</a:t>
            </a:r>
            <a:endParaRPr lang="en-US" sz="1600" dirty="0"/>
          </a:p>
        </p:txBody>
      </p:sp>
      <p:sp>
        <p:nvSpPr>
          <p:cNvPr id="31"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label"/>
          <p:cNvSpPr txBox="1"/>
          <p:nvPr/>
        </p:nvSpPr>
        <p:spPr>
          <a:xfrm>
            <a:off x="548640" y="228600"/>
            <a:ext cx="73152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3  RELATED WORK</a:t>
            </a:r>
            <a:endParaRPr lang="en-US" sz="1200" dirty="0"/>
          </a:p>
        </p:txBody>
      </p:sp>
      <p:sp>
        <p:nvSpPr>
          <p:cNvPr id="3" name="Text 0"/>
          <p:cNvSpPr>
            <a:spLocks noGrp="1"/>
          </p:cNvSpPr>
          <p:nvPr>
            <p:ph type="title" idx="100" hasCustomPrompt="1"/>
          </p:nvPr>
        </p:nvSpPr>
        <p:spPr>
          <a:xfrm>
            <a:off x="548640" y="502920"/>
            <a:ext cx="11064240" cy="731520"/>
          </a:xfrm>
          <a:prstGeom prst="rect">
            <a:avLst/>
          </a:prstGeom>
          <a:noFill/>
          <a:ln/>
        </p:spPr>
        <p:txBody>
          <a:bodyPr wrap="square" lIns="0" tIns="0" rIns="0" bIns="0" rtlCol="0" anchor="ctr"/>
          <a:lstStyle/>
          <a:p>
            <a:pPr marL="0" indent="0" algn="l">
              <a:buNone/>
            </a:pPr>
            <a:r>
              <a:rPr lang="en-US" sz="3400" b="1" dirty="0">
                <a:solidFill>
                  <a:schemeClr val="tx1"/>
                </a:solidFill>
              </a:rPr>
              <a:t>What exists, and what is left to do</a:t>
            </a:r>
            <a:endParaRPr lang="en-US" sz="3400" dirty="0"/>
          </a:p>
        </p:txBody>
      </p:sp>
      <p:sp>
        <p:nvSpPr>
          <p:cNvPr id="4" name="Related card 1"/>
          <p:cNvSpPr/>
          <p:nvPr/>
        </p:nvSpPr>
        <p:spPr>
          <a:xfrm>
            <a:off x="548640" y="1508760"/>
            <a:ext cx="3566160" cy="1828800"/>
          </a:xfrm>
          <a:prstGeom prst="roundRect">
            <a:avLst>
              <a:gd name="adj" fmla="val 6000"/>
            </a:avLst>
          </a:prstGeom>
          <a:solidFill>
            <a:schemeClr val="bg2"/>
          </a:solidFill>
          <a:ln w="12700">
            <a:solidFill>
              <a:schemeClr val="bg2"/>
            </a:solidFill>
            <a:prstDash val="solid"/>
          </a:ln>
        </p:spPr>
      </p:sp>
      <p:sp>
        <p:nvSpPr>
          <p:cNvPr id="5" name="Related text 1"/>
          <p:cNvSpPr txBox="1"/>
          <p:nvPr/>
        </p:nvSpPr>
        <p:spPr>
          <a:xfrm>
            <a:off x="777240" y="1691640"/>
            <a:ext cx="3108960" cy="1463040"/>
          </a:xfrm>
          <a:prstGeom prst="rect">
            <a:avLst/>
          </a:prstGeom>
          <a:noFill/>
          <a:ln/>
        </p:spPr>
        <p:txBody>
          <a:bodyPr wrap="square" lIns="0" tIns="0" rIns="0" bIns="0" rtlCol="0" anchor="t"/>
          <a:lstStyle/>
          <a:p>
            <a:pPr marL="0" indent="0">
              <a:spcAft>
                <a:spcPts val="1000"/>
              </a:spcAft>
              <a:buNone/>
            </a:pPr>
            <a:r>
              <a:rPr lang="en-US" sz="2000" b="1" dirty="0">
                <a:solidFill>
                  <a:schemeClr val="tx1"/>
                </a:solidFill>
              </a:rPr>
              <a:t>Compact thermal models</a:t>
            </a:r>
            <a:endParaRPr lang="en-US" sz="2000" dirty="0"/>
          </a:p>
          <a:p>
            <a:pPr marL="0" indent="0">
              <a:spcAft>
                <a:spcPts val="1000"/>
              </a:spcAft>
              <a:buNone/>
            </a:pPr>
            <a:r>
              <a:rPr lang="en-US" sz="1600" dirty="0">
                <a:solidFill>
                  <a:schemeClr val="accent1"/>
                </a:solidFill>
              </a:rPr>
              <a:t>Huang et al. [2]</a:t>
            </a:r>
            <a:endParaRPr lang="en-US" sz="2000" dirty="0"/>
          </a:p>
        </p:txBody>
      </p:sp>
      <p:sp>
        <p:nvSpPr>
          <p:cNvPr id="6" name="Related card 2"/>
          <p:cNvSpPr/>
          <p:nvPr/>
        </p:nvSpPr>
        <p:spPr>
          <a:xfrm>
            <a:off x="4297680" y="1508760"/>
            <a:ext cx="3566160" cy="1828800"/>
          </a:xfrm>
          <a:prstGeom prst="roundRect">
            <a:avLst>
              <a:gd name="adj" fmla="val 6000"/>
            </a:avLst>
          </a:prstGeom>
          <a:solidFill>
            <a:schemeClr val="bg2"/>
          </a:solidFill>
          <a:ln w="12700">
            <a:solidFill>
              <a:schemeClr val="bg2"/>
            </a:solidFill>
            <a:prstDash val="solid"/>
          </a:ln>
        </p:spPr>
      </p:sp>
      <p:sp>
        <p:nvSpPr>
          <p:cNvPr id="7" name="Related text 2"/>
          <p:cNvSpPr txBox="1"/>
          <p:nvPr/>
        </p:nvSpPr>
        <p:spPr>
          <a:xfrm>
            <a:off x="4526280" y="1691640"/>
            <a:ext cx="3108960" cy="1463040"/>
          </a:xfrm>
          <a:prstGeom prst="rect">
            <a:avLst/>
          </a:prstGeom>
          <a:noFill/>
          <a:ln/>
        </p:spPr>
        <p:txBody>
          <a:bodyPr wrap="square" lIns="0" tIns="0" rIns="0" bIns="0" rtlCol="0" anchor="t"/>
          <a:lstStyle/>
          <a:p>
            <a:pPr marL="0" indent="0">
              <a:spcAft>
                <a:spcPts val="1000"/>
              </a:spcAft>
              <a:buNone/>
            </a:pPr>
            <a:r>
              <a:rPr lang="en-US" sz="2000" b="1" dirty="0">
                <a:solidFill>
                  <a:schemeClr val="tx1"/>
                </a:solidFill>
              </a:rPr>
              <a:t>Analytical conduction</a:t>
            </a:r>
            <a:endParaRPr lang="en-US" sz="2000" dirty="0"/>
          </a:p>
          <a:p>
            <a:pPr marL="0" indent="0">
              <a:spcAft>
                <a:spcPts val="1000"/>
              </a:spcAft>
              <a:buNone/>
            </a:pPr>
            <a:r>
              <a:rPr lang="en-US" sz="1600" dirty="0">
                <a:solidFill>
                  <a:schemeClr val="accent1"/>
                </a:solidFill>
              </a:rPr>
              <a:t>Carslaw and Jaeger [1]</a:t>
            </a:r>
            <a:endParaRPr lang="en-US" sz="2000" dirty="0"/>
          </a:p>
        </p:txBody>
      </p:sp>
      <p:sp>
        <p:nvSpPr>
          <p:cNvPr id="8" name="Related card 3"/>
          <p:cNvSpPr/>
          <p:nvPr/>
        </p:nvSpPr>
        <p:spPr>
          <a:xfrm>
            <a:off x="8046720" y="1508760"/>
            <a:ext cx="3566160" cy="1828800"/>
          </a:xfrm>
          <a:prstGeom prst="roundRect">
            <a:avLst>
              <a:gd name="adj" fmla="val 6000"/>
            </a:avLst>
          </a:prstGeom>
          <a:solidFill>
            <a:schemeClr val="bg2"/>
          </a:solidFill>
          <a:ln w="12700">
            <a:solidFill>
              <a:schemeClr val="bg2"/>
            </a:solidFill>
            <a:prstDash val="solid"/>
          </a:ln>
        </p:spPr>
      </p:sp>
      <p:sp>
        <p:nvSpPr>
          <p:cNvPr id="9" name="Related text 3"/>
          <p:cNvSpPr txBox="1"/>
          <p:nvPr/>
        </p:nvSpPr>
        <p:spPr>
          <a:xfrm>
            <a:off x="8275320" y="1691640"/>
            <a:ext cx="3108960" cy="1463040"/>
          </a:xfrm>
          <a:prstGeom prst="rect">
            <a:avLst/>
          </a:prstGeom>
          <a:noFill/>
          <a:ln/>
        </p:spPr>
        <p:txBody>
          <a:bodyPr wrap="square" lIns="0" tIns="0" rIns="0" bIns="0" rtlCol="0" anchor="t"/>
          <a:lstStyle/>
          <a:p>
            <a:pPr marL="0" indent="0">
              <a:spcAft>
                <a:spcPts val="1000"/>
              </a:spcAft>
              <a:buNone/>
            </a:pPr>
            <a:r>
              <a:rPr lang="en-US" sz="2000" b="1" dirty="0">
                <a:solidFill>
                  <a:schemeClr val="tx1"/>
                </a:solidFill>
              </a:rPr>
              <a:t>Convex optimization</a:t>
            </a:r>
            <a:endParaRPr lang="en-US" sz="2000" dirty="0"/>
          </a:p>
          <a:p>
            <a:pPr marL="0" indent="0">
              <a:spcAft>
                <a:spcPts val="1000"/>
              </a:spcAft>
              <a:buNone/>
            </a:pPr>
            <a:r>
              <a:rPr lang="en-US" sz="1600" dirty="0">
                <a:solidFill>
                  <a:schemeClr val="accent1"/>
                </a:solidFill>
              </a:rPr>
              <a:t>Murali et al. [3]; Boyd and Vandenberghe [4]</a:t>
            </a:r>
            <a:endParaRPr lang="en-US" sz="2000" dirty="0"/>
          </a:p>
        </p:txBody>
      </p:sp>
      <p:sp>
        <p:nvSpPr>
          <p:cNvPr id="10" name="Gap card"/>
          <p:cNvSpPr/>
          <p:nvPr/>
        </p:nvSpPr>
        <p:spPr>
          <a:xfrm>
            <a:off x="548640" y="3657600"/>
            <a:ext cx="11064240" cy="1463040"/>
          </a:xfrm>
          <a:prstGeom prst="roundRect">
            <a:avLst>
              <a:gd name="adj" fmla="val 7500"/>
            </a:avLst>
          </a:prstGeom>
          <a:solidFill>
            <a:schemeClr val="tx1"/>
          </a:solidFill>
          <a:ln w="12700">
            <a:solidFill>
              <a:schemeClr val="tx1"/>
            </a:solidFill>
            <a:prstDash val="solid"/>
          </a:ln>
        </p:spPr>
      </p:sp>
      <p:sp>
        <p:nvSpPr>
          <p:cNvPr id="11" name="Gap text"/>
          <p:cNvSpPr txBox="1"/>
          <p:nvPr/>
        </p:nvSpPr>
        <p:spPr>
          <a:xfrm>
            <a:off x="822960" y="3703320"/>
            <a:ext cx="10515600" cy="1371600"/>
          </a:xfrm>
          <a:prstGeom prst="rect">
            <a:avLst/>
          </a:prstGeom>
          <a:noFill/>
          <a:ln/>
        </p:spPr>
        <p:txBody>
          <a:bodyPr wrap="square" lIns="0" tIns="0" rIns="0" bIns="0" rtlCol="0" anchor="ctr"/>
          <a:lstStyle/>
          <a:p>
            <a:pPr marL="0" indent="0">
              <a:buNone/>
            </a:pPr>
            <a:r>
              <a:rPr lang="en-US" sz="1600" b="1" dirty="0">
                <a:solidFill>
                  <a:schemeClr val="accent2"/>
                </a:solidFill>
              </a:rPr>
              <a:t>The gap we address.  </a:t>
            </a:r>
            <a:r>
              <a:rPr lang="en-US" sz="1600" dirty="0">
                <a:solidFill>
                  <a:schemeClr val="bg1"/>
                </a:solidFill>
              </a:rPr>
              <a:t>Compact models lose the spatial field, and frequency-control methods do not put the full heat operator in the optimizer. Our pipeline keeps the whole 2D field and stays linear, so the optimizer and the physics share one matrix.</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label"/>
          <p:cNvSpPr txBox="1"/>
          <p:nvPr/>
        </p:nvSpPr>
        <p:spPr>
          <a:xfrm>
            <a:off x="548640" y="228600"/>
            <a:ext cx="73152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4  METHODOLOGY</a:t>
            </a:r>
            <a:endParaRPr lang="en-US" sz="1200" dirty="0"/>
          </a:p>
        </p:txBody>
      </p:sp>
      <p:sp>
        <p:nvSpPr>
          <p:cNvPr id="3" name="Text 0"/>
          <p:cNvSpPr>
            <a:spLocks noGrp="1"/>
          </p:cNvSpPr>
          <p:nvPr>
            <p:ph type="title" idx="100" hasCustomPrompt="1"/>
          </p:nvPr>
        </p:nvSpPr>
        <p:spPr>
          <a:xfrm>
            <a:off x="548640" y="502920"/>
            <a:ext cx="11064240" cy="731520"/>
          </a:xfrm>
          <a:prstGeom prst="rect">
            <a:avLst/>
          </a:prstGeom>
          <a:noFill/>
          <a:ln/>
        </p:spPr>
        <p:txBody>
          <a:bodyPr wrap="square" lIns="0" tIns="0" rIns="0" bIns="0" rtlCol="0" anchor="ctr"/>
          <a:lstStyle/>
          <a:p>
            <a:pPr marL="0" indent="0" algn="l">
              <a:buNone/>
            </a:pPr>
            <a:r>
              <a:rPr lang="en-US" sz="3400" b="1" dirty="0">
                <a:solidFill>
                  <a:schemeClr val="tx1"/>
                </a:solidFill>
              </a:rPr>
              <a:t>From Fourier's law to a linear program</a:t>
            </a:r>
            <a:endParaRPr lang="en-US" sz="3400" dirty="0"/>
          </a:p>
        </p:txBody>
      </p:sp>
      <p:sp>
        <p:nvSpPr>
          <p:cNvPr id="4" name="Method card 1"/>
          <p:cNvSpPr/>
          <p:nvPr/>
        </p:nvSpPr>
        <p:spPr>
          <a:xfrm>
            <a:off x="548640" y="1417320"/>
            <a:ext cx="2103120" cy="3657600"/>
          </a:xfrm>
          <a:prstGeom prst="roundRect">
            <a:avLst>
              <a:gd name="adj" fmla="val 5217"/>
            </a:avLst>
          </a:prstGeom>
          <a:solidFill>
            <a:schemeClr val="bg2"/>
          </a:solidFill>
          <a:ln w="12700">
            <a:solidFill>
              <a:schemeClr val="bg2"/>
            </a:solidFill>
            <a:prstDash val="solid"/>
          </a:ln>
        </p:spPr>
      </p:sp>
      <p:sp>
        <p:nvSpPr>
          <p:cNvPr id="5" name="Step disc 1"/>
          <p:cNvSpPr/>
          <p:nvPr/>
        </p:nvSpPr>
        <p:spPr>
          <a:xfrm>
            <a:off x="685800" y="1554480"/>
            <a:ext cx="457200" cy="457200"/>
          </a:xfrm>
          <a:prstGeom prst="ellipse">
            <a:avLst/>
          </a:prstGeom>
          <a:solidFill>
            <a:schemeClr val="accent1"/>
          </a:solidFill>
          <a:ln w="12700">
            <a:solidFill>
              <a:schemeClr val="accent1"/>
            </a:solidFill>
            <a:prstDash val="solid"/>
          </a:ln>
        </p:spPr>
      </p:sp>
      <p:sp>
        <p:nvSpPr>
          <p:cNvPr id="6" name="Step number 1"/>
          <p:cNvSpPr txBox="1"/>
          <p:nvPr/>
        </p:nvSpPr>
        <p:spPr>
          <a:xfrm>
            <a:off x="685800" y="15544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7" name="Step title 1"/>
          <p:cNvSpPr txBox="1"/>
          <p:nvPr/>
        </p:nvSpPr>
        <p:spPr>
          <a:xfrm>
            <a:off x="1234440" y="1536192"/>
            <a:ext cx="1371600" cy="530352"/>
          </a:xfrm>
          <a:prstGeom prst="rect">
            <a:avLst/>
          </a:prstGeom>
          <a:noFill/>
          <a:ln/>
        </p:spPr>
        <p:txBody>
          <a:bodyPr wrap="square" lIns="0" tIns="0" rIns="0" bIns="0" rtlCol="0" anchor="ctr"/>
          <a:lstStyle/>
          <a:p>
            <a:pPr marL="0" indent="0">
              <a:buNone/>
            </a:pPr>
            <a:r>
              <a:rPr lang="en-US" sz="1600" b="1" dirty="0">
                <a:solidFill>
                  <a:schemeClr val="tx1"/>
                </a:solidFill>
              </a:rPr>
              <a:t>Field model</a:t>
            </a:r>
            <a:endParaRPr lang="en-US" sz="1600" dirty="0"/>
          </a:p>
          <a:p>
            <a:pPr marL="0" indent="0">
              <a:buNone/>
            </a:pPr>
            <a:r>
              <a:rPr lang="en-US" sz="1200" dirty="0">
                <a:solidFill>
                  <a:schemeClr val="accent5"/>
                </a:solidFill>
              </a:rPr>
              <a:t>Vector Calculus</a:t>
            </a:r>
            <a:endParaRPr lang="en-US" sz="1600" dirty="0"/>
          </a:p>
        </p:txBody>
      </p:sp>
      <p:sp>
        <p:nvSpPr>
          <p:cNvPr id="8" name="Equation box 1"/>
          <p:cNvSpPr/>
          <p:nvPr/>
        </p:nvSpPr>
        <p:spPr>
          <a:xfrm>
            <a:off x="685800" y="2194560"/>
            <a:ext cx="1828800" cy="1143000"/>
          </a:xfrm>
          <a:prstGeom prst="roundRect">
            <a:avLst>
              <a:gd name="adj" fmla="val 6400"/>
            </a:avLst>
          </a:prstGeom>
          <a:solidFill>
            <a:schemeClr val="tx1"/>
          </a:solidFill>
          <a:ln w="12700">
            <a:solidFill>
              <a:schemeClr val="tx1"/>
            </a:solidFill>
            <a:prstDash val="solid"/>
          </a:ln>
        </p:spPr>
      </p:sp>
      <p:sp>
        <p:nvSpPr>
          <p:cNvPr id="9" name="Equation 1"/>
          <p:cNvSpPr txBox="1"/>
          <p:nvPr/>
        </p:nvSpPr>
        <p:spPr>
          <a:xfrm>
            <a:off x="685800" y="2194560"/>
            <a:ext cx="1828800" cy="1143000"/>
          </a:xfrm>
          <a:prstGeom prst="rect">
            <a:avLst/>
          </a:prstGeom>
          <a:noFill/>
          <a:ln/>
        </p:spPr>
        <p:txBody>
          <a:bodyPr wrap="square" lIns="635" tIns="635" rIns="635" bIns="635" rtlCol="0" anchor="ctr"/>
          <a:lstStyle/>
          <a:p>
            <a:pPr marL="0" indent="0" algn="ctr">
              <a:buNone/>
            </a:pPr>
            <a:r>
              <a:rPr lang="en-US" sz="1400" b="1" dirty="0">
                <a:solidFill>
                  <a:schemeClr val="bg1"/>
                </a:solidFill>
              </a:rPr>
              <a:t>q = -k∇T</a:t>
            </a:r>
            <a:endParaRPr lang="en-US" sz="1400" dirty="0"/>
          </a:p>
          <a:p>
            <a:pPr marL="0" indent="0" algn="ctr">
              <a:buNone/>
            </a:pPr>
            <a:r>
              <a:rPr lang="en-US" sz="1400" b="1" dirty="0">
                <a:solidFill>
                  <a:schemeClr val="bg1"/>
                </a:solidFill>
              </a:rPr>
              <a:t>∇·q = Q</a:t>
            </a:r>
            <a:endParaRPr lang="en-US" sz="1400" dirty="0"/>
          </a:p>
        </p:txBody>
      </p:sp>
      <p:sp>
        <p:nvSpPr>
          <p:cNvPr id="10" name="Step text 1"/>
          <p:cNvSpPr txBox="1"/>
          <p:nvPr/>
        </p:nvSpPr>
        <p:spPr>
          <a:xfrm>
            <a:off x="685800" y="3474720"/>
            <a:ext cx="1828800" cy="1508760"/>
          </a:xfrm>
          <a:prstGeom prst="rect">
            <a:avLst/>
          </a:prstGeom>
          <a:noFill/>
          <a:ln/>
        </p:spPr>
        <p:txBody>
          <a:bodyPr wrap="square" lIns="0" tIns="0" rIns="0" bIns="0" rtlCol="0" anchor="t"/>
          <a:lstStyle/>
          <a:p>
            <a:pPr marL="0" indent="0">
              <a:buNone/>
            </a:pPr>
            <a:r>
              <a:rPr lang="en-US" sz="1400" dirty="0">
                <a:solidFill>
                  <a:schemeClr val="tx2"/>
                </a:solidFill>
              </a:rPr>
              <a:t>Heat flows down the temperature gradient. Heat in equals heat out.</a:t>
            </a:r>
            <a:endParaRPr lang="en-US" sz="1400" dirty="0"/>
          </a:p>
        </p:txBody>
      </p:sp>
      <p:sp>
        <p:nvSpPr>
          <p:cNvPr id="11" name="Method card 2"/>
          <p:cNvSpPr/>
          <p:nvPr/>
        </p:nvSpPr>
        <p:spPr>
          <a:xfrm>
            <a:off x="2798064" y="1417320"/>
            <a:ext cx="2103120" cy="3657600"/>
          </a:xfrm>
          <a:prstGeom prst="roundRect">
            <a:avLst>
              <a:gd name="adj" fmla="val 5217"/>
            </a:avLst>
          </a:prstGeom>
          <a:solidFill>
            <a:schemeClr val="bg2"/>
          </a:solidFill>
          <a:ln w="12700">
            <a:solidFill>
              <a:schemeClr val="bg2"/>
            </a:solidFill>
            <a:prstDash val="solid"/>
          </a:ln>
        </p:spPr>
      </p:sp>
      <p:sp>
        <p:nvSpPr>
          <p:cNvPr id="12" name="Step disc 2"/>
          <p:cNvSpPr/>
          <p:nvPr/>
        </p:nvSpPr>
        <p:spPr>
          <a:xfrm>
            <a:off x="2935224" y="1554480"/>
            <a:ext cx="457200" cy="457200"/>
          </a:xfrm>
          <a:prstGeom prst="ellipse">
            <a:avLst/>
          </a:prstGeom>
          <a:solidFill>
            <a:schemeClr val="accent1"/>
          </a:solidFill>
          <a:ln w="12700">
            <a:solidFill>
              <a:schemeClr val="accent1"/>
            </a:solidFill>
            <a:prstDash val="solid"/>
          </a:ln>
        </p:spPr>
      </p:sp>
      <p:sp>
        <p:nvSpPr>
          <p:cNvPr id="13" name="Step number 2"/>
          <p:cNvSpPr txBox="1"/>
          <p:nvPr/>
        </p:nvSpPr>
        <p:spPr>
          <a:xfrm>
            <a:off x="2935224" y="15544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4" name="Step title 2"/>
          <p:cNvSpPr txBox="1"/>
          <p:nvPr/>
        </p:nvSpPr>
        <p:spPr>
          <a:xfrm>
            <a:off x="3483864" y="1536192"/>
            <a:ext cx="1371600" cy="530352"/>
          </a:xfrm>
          <a:prstGeom prst="rect">
            <a:avLst/>
          </a:prstGeom>
          <a:noFill/>
          <a:ln/>
        </p:spPr>
        <p:txBody>
          <a:bodyPr wrap="square" lIns="0" tIns="0" rIns="0" bIns="0" rtlCol="0" anchor="ctr"/>
          <a:lstStyle/>
          <a:p>
            <a:pPr marL="0" indent="0">
              <a:buNone/>
            </a:pPr>
            <a:r>
              <a:rPr lang="en-US" sz="1600" b="1" dirty="0">
                <a:solidFill>
                  <a:schemeClr val="tx1"/>
                </a:solidFill>
              </a:rPr>
              <a:t>PDE</a:t>
            </a:r>
            <a:endParaRPr lang="en-US" sz="1600" dirty="0"/>
          </a:p>
          <a:p>
            <a:pPr marL="0" indent="0">
              <a:buNone/>
            </a:pPr>
            <a:r>
              <a:rPr lang="en-US" sz="1200" dirty="0">
                <a:solidFill>
                  <a:schemeClr val="accent5"/>
                </a:solidFill>
              </a:rPr>
              <a:t>Elliptic</a:t>
            </a:r>
            <a:endParaRPr lang="en-US" sz="1600" dirty="0"/>
          </a:p>
        </p:txBody>
      </p:sp>
      <p:sp>
        <p:nvSpPr>
          <p:cNvPr id="15" name="Equation box 2"/>
          <p:cNvSpPr/>
          <p:nvPr/>
        </p:nvSpPr>
        <p:spPr>
          <a:xfrm>
            <a:off x="2935224" y="2194560"/>
            <a:ext cx="1828800" cy="1143000"/>
          </a:xfrm>
          <a:prstGeom prst="roundRect">
            <a:avLst>
              <a:gd name="adj" fmla="val 6400"/>
            </a:avLst>
          </a:prstGeom>
          <a:solidFill>
            <a:schemeClr val="tx1"/>
          </a:solidFill>
          <a:ln w="12700">
            <a:solidFill>
              <a:schemeClr val="tx1"/>
            </a:solidFill>
            <a:prstDash val="solid"/>
          </a:ln>
        </p:spPr>
      </p:sp>
      <p:sp>
        <p:nvSpPr>
          <p:cNvPr id="16" name="Equation 2"/>
          <p:cNvSpPr txBox="1"/>
          <p:nvPr/>
        </p:nvSpPr>
        <p:spPr>
          <a:xfrm>
            <a:off x="2935224" y="2194560"/>
            <a:ext cx="1828800" cy="1143000"/>
          </a:xfrm>
          <a:prstGeom prst="rect">
            <a:avLst/>
          </a:prstGeom>
          <a:noFill/>
          <a:ln/>
        </p:spPr>
        <p:txBody>
          <a:bodyPr wrap="square" lIns="635" tIns="635" rIns="635" bIns="635" rtlCol="0" anchor="ctr"/>
          <a:lstStyle/>
          <a:p>
            <a:pPr marL="0" indent="0" algn="ctr">
              <a:buNone/>
            </a:pPr>
            <a:r>
              <a:rPr lang="en-US" sz="1400" b="1" dirty="0">
                <a:solidFill>
                  <a:schemeClr val="bg1"/>
                </a:solidFill>
              </a:rPr>
              <a:t>∇²T = -Q/k</a:t>
            </a:r>
            <a:endParaRPr lang="en-US" sz="1400" dirty="0"/>
          </a:p>
        </p:txBody>
      </p:sp>
      <p:sp>
        <p:nvSpPr>
          <p:cNvPr id="17" name="Step text 2"/>
          <p:cNvSpPr txBox="1"/>
          <p:nvPr/>
        </p:nvSpPr>
        <p:spPr>
          <a:xfrm>
            <a:off x="2935224" y="3474720"/>
            <a:ext cx="1828800" cy="1508760"/>
          </a:xfrm>
          <a:prstGeom prst="rect">
            <a:avLst/>
          </a:prstGeom>
          <a:noFill/>
          <a:ln/>
        </p:spPr>
        <p:txBody>
          <a:bodyPr wrap="square" lIns="0" tIns="0" rIns="0" bIns="0" rtlCol="0" anchor="t"/>
          <a:lstStyle/>
          <a:p>
            <a:pPr marL="0" indent="0">
              <a:buNone/>
            </a:pPr>
            <a:r>
              <a:rPr lang="en-US" sz="1400" dirty="0">
                <a:solidFill>
                  <a:schemeClr val="tx2"/>
                </a:solidFill>
              </a:rPr>
              <a:t>A Poisson equation with T = 300 K on the edges. Every point feels every source.</a:t>
            </a:r>
            <a:endParaRPr lang="en-US" sz="1400" dirty="0"/>
          </a:p>
        </p:txBody>
      </p:sp>
      <p:sp>
        <p:nvSpPr>
          <p:cNvPr id="18" name="Method card 3"/>
          <p:cNvSpPr/>
          <p:nvPr/>
        </p:nvSpPr>
        <p:spPr>
          <a:xfrm>
            <a:off x="5047488" y="1417320"/>
            <a:ext cx="2103120" cy="3657600"/>
          </a:xfrm>
          <a:prstGeom prst="roundRect">
            <a:avLst>
              <a:gd name="adj" fmla="val 5217"/>
            </a:avLst>
          </a:prstGeom>
          <a:solidFill>
            <a:schemeClr val="bg2"/>
          </a:solidFill>
          <a:ln w="12700">
            <a:solidFill>
              <a:schemeClr val="bg2"/>
            </a:solidFill>
            <a:prstDash val="solid"/>
          </a:ln>
        </p:spPr>
      </p:sp>
      <p:sp>
        <p:nvSpPr>
          <p:cNvPr id="19" name="Step disc 3"/>
          <p:cNvSpPr/>
          <p:nvPr/>
        </p:nvSpPr>
        <p:spPr>
          <a:xfrm>
            <a:off x="5184648" y="1554480"/>
            <a:ext cx="457200" cy="457200"/>
          </a:xfrm>
          <a:prstGeom prst="ellipse">
            <a:avLst/>
          </a:prstGeom>
          <a:solidFill>
            <a:schemeClr val="accent1"/>
          </a:solidFill>
          <a:ln w="12700">
            <a:solidFill>
              <a:schemeClr val="accent1"/>
            </a:solidFill>
            <a:prstDash val="solid"/>
          </a:ln>
        </p:spPr>
      </p:sp>
      <p:sp>
        <p:nvSpPr>
          <p:cNvPr id="20" name="Step number 3"/>
          <p:cNvSpPr txBox="1"/>
          <p:nvPr/>
        </p:nvSpPr>
        <p:spPr>
          <a:xfrm>
            <a:off x="5184648" y="15544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21" name="Step title 3"/>
          <p:cNvSpPr txBox="1"/>
          <p:nvPr/>
        </p:nvSpPr>
        <p:spPr>
          <a:xfrm>
            <a:off x="5733288" y="1536192"/>
            <a:ext cx="1371600" cy="530352"/>
          </a:xfrm>
          <a:prstGeom prst="rect">
            <a:avLst/>
          </a:prstGeom>
          <a:noFill/>
          <a:ln/>
        </p:spPr>
        <p:txBody>
          <a:bodyPr wrap="square" lIns="0" tIns="0" rIns="0" bIns="0" rtlCol="0" anchor="ctr"/>
          <a:lstStyle/>
          <a:p>
            <a:pPr marL="0" indent="0">
              <a:buNone/>
            </a:pPr>
            <a:r>
              <a:rPr lang="en-US" sz="1600" b="1" dirty="0">
                <a:solidFill>
                  <a:schemeClr val="tx1"/>
                </a:solidFill>
              </a:rPr>
              <a:t>Transform</a:t>
            </a:r>
            <a:endParaRPr lang="en-US" sz="1600" dirty="0"/>
          </a:p>
          <a:p>
            <a:pPr marL="0" indent="0">
              <a:buNone/>
            </a:pPr>
            <a:r>
              <a:rPr lang="en-US" sz="1200" dirty="0">
                <a:solidFill>
                  <a:schemeClr val="accent5"/>
                </a:solidFill>
              </a:rPr>
              <a:t>Laplace in time</a:t>
            </a:r>
            <a:endParaRPr lang="en-US" sz="1600" dirty="0"/>
          </a:p>
        </p:txBody>
      </p:sp>
      <p:sp>
        <p:nvSpPr>
          <p:cNvPr id="22" name="Equation box 3"/>
          <p:cNvSpPr/>
          <p:nvPr/>
        </p:nvSpPr>
        <p:spPr>
          <a:xfrm>
            <a:off x="5184648" y="2194560"/>
            <a:ext cx="1828800" cy="1143000"/>
          </a:xfrm>
          <a:prstGeom prst="roundRect">
            <a:avLst>
              <a:gd name="adj" fmla="val 6400"/>
            </a:avLst>
          </a:prstGeom>
          <a:solidFill>
            <a:schemeClr val="tx1"/>
          </a:solidFill>
          <a:ln w="12700">
            <a:solidFill>
              <a:schemeClr val="tx1"/>
            </a:solidFill>
            <a:prstDash val="solid"/>
          </a:ln>
        </p:spPr>
      </p:sp>
      <p:sp>
        <p:nvSpPr>
          <p:cNvPr id="23" name="Equation 3"/>
          <p:cNvSpPr txBox="1"/>
          <p:nvPr/>
        </p:nvSpPr>
        <p:spPr>
          <a:xfrm>
            <a:off x="5184648" y="2194560"/>
            <a:ext cx="1828800" cy="1143000"/>
          </a:xfrm>
          <a:prstGeom prst="rect">
            <a:avLst/>
          </a:prstGeom>
          <a:noFill/>
          <a:ln/>
        </p:spPr>
        <p:txBody>
          <a:bodyPr wrap="square" lIns="635" tIns="635" rIns="635" bIns="635" rtlCol="0" anchor="ctr"/>
          <a:lstStyle/>
          <a:p>
            <a:pPr marL="0" indent="0" algn="ctr">
              <a:buNone/>
            </a:pPr>
            <a:r>
              <a:rPr lang="en-US" sz="1400" b="1" dirty="0">
                <a:solidFill>
                  <a:schemeClr val="bg1"/>
                </a:solidFill>
              </a:rPr>
              <a:t>Zth(s) = ΔΘ(s) / P(s)</a:t>
            </a:r>
            <a:endParaRPr lang="en-US" sz="1400" dirty="0"/>
          </a:p>
        </p:txBody>
      </p:sp>
      <p:sp>
        <p:nvSpPr>
          <p:cNvPr id="24" name="Step text 3"/>
          <p:cNvSpPr txBox="1"/>
          <p:nvPr/>
        </p:nvSpPr>
        <p:spPr>
          <a:xfrm>
            <a:off x="5184648" y="3474720"/>
            <a:ext cx="1828800" cy="1508760"/>
          </a:xfrm>
          <a:prstGeom prst="rect">
            <a:avLst/>
          </a:prstGeom>
          <a:noFill/>
          <a:ln/>
        </p:spPr>
        <p:txBody>
          <a:bodyPr wrap="square" lIns="0" tIns="0" rIns="0" bIns="0" rtlCol="0" anchor="t"/>
          <a:lstStyle/>
          <a:p>
            <a:pPr marL="0" indent="0">
              <a:buNone/>
            </a:pPr>
            <a:r>
              <a:rPr lang="en-US" sz="1400" dirty="0">
                <a:solidFill>
                  <a:schemeClr val="tx2"/>
                </a:solidFill>
              </a:rPr>
              <a:t>Each mode is a one-pole delay. As s → 0 it gives the steady thermal resistance.</a:t>
            </a:r>
            <a:endParaRPr lang="en-US" sz="1400" dirty="0"/>
          </a:p>
        </p:txBody>
      </p:sp>
      <p:sp>
        <p:nvSpPr>
          <p:cNvPr id="25" name="Method card 4"/>
          <p:cNvSpPr/>
          <p:nvPr/>
        </p:nvSpPr>
        <p:spPr>
          <a:xfrm>
            <a:off x="7296912" y="1417320"/>
            <a:ext cx="2103120" cy="3657600"/>
          </a:xfrm>
          <a:prstGeom prst="roundRect">
            <a:avLst>
              <a:gd name="adj" fmla="val 5217"/>
            </a:avLst>
          </a:prstGeom>
          <a:solidFill>
            <a:schemeClr val="bg2"/>
          </a:solidFill>
          <a:ln w="12700">
            <a:solidFill>
              <a:schemeClr val="bg2"/>
            </a:solidFill>
            <a:prstDash val="solid"/>
          </a:ln>
        </p:spPr>
      </p:sp>
      <p:sp>
        <p:nvSpPr>
          <p:cNvPr id="26" name="Step disc 4"/>
          <p:cNvSpPr/>
          <p:nvPr/>
        </p:nvSpPr>
        <p:spPr>
          <a:xfrm>
            <a:off x="7434072" y="1554480"/>
            <a:ext cx="457200" cy="457200"/>
          </a:xfrm>
          <a:prstGeom prst="ellipse">
            <a:avLst/>
          </a:prstGeom>
          <a:solidFill>
            <a:schemeClr val="accent1"/>
          </a:solidFill>
          <a:ln w="12700">
            <a:solidFill>
              <a:schemeClr val="accent1"/>
            </a:solidFill>
            <a:prstDash val="solid"/>
          </a:ln>
        </p:spPr>
      </p:sp>
      <p:sp>
        <p:nvSpPr>
          <p:cNvPr id="27" name="Step number 4"/>
          <p:cNvSpPr txBox="1"/>
          <p:nvPr/>
        </p:nvSpPr>
        <p:spPr>
          <a:xfrm>
            <a:off x="7434072" y="15544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8" name="Step title 4"/>
          <p:cNvSpPr txBox="1"/>
          <p:nvPr/>
        </p:nvSpPr>
        <p:spPr>
          <a:xfrm>
            <a:off x="7982712" y="1536192"/>
            <a:ext cx="1371600" cy="530352"/>
          </a:xfrm>
          <a:prstGeom prst="rect">
            <a:avLst/>
          </a:prstGeom>
          <a:noFill/>
          <a:ln/>
        </p:spPr>
        <p:txBody>
          <a:bodyPr wrap="square" lIns="0" tIns="0" rIns="0" bIns="0" rtlCol="0" anchor="ctr"/>
          <a:lstStyle/>
          <a:p>
            <a:pPr marL="0" indent="0">
              <a:buNone/>
            </a:pPr>
            <a:r>
              <a:rPr lang="en-US" sz="1600" b="1" dirty="0">
                <a:solidFill>
                  <a:schemeClr val="tx1"/>
                </a:solidFill>
              </a:rPr>
              <a:t>Discretize</a:t>
            </a:r>
            <a:endParaRPr lang="en-US" sz="1600" dirty="0"/>
          </a:p>
          <a:p>
            <a:pPr marL="0" indent="0">
              <a:buNone/>
            </a:pPr>
            <a:r>
              <a:rPr lang="en-US" sz="1200" dirty="0">
                <a:solidFill>
                  <a:schemeClr val="accent5"/>
                </a:solidFill>
              </a:rPr>
              <a:t>Linear Algebra</a:t>
            </a:r>
            <a:endParaRPr lang="en-US" sz="1600" dirty="0"/>
          </a:p>
        </p:txBody>
      </p:sp>
      <p:sp>
        <p:nvSpPr>
          <p:cNvPr id="29" name="Equation box 4"/>
          <p:cNvSpPr/>
          <p:nvPr/>
        </p:nvSpPr>
        <p:spPr>
          <a:xfrm>
            <a:off x="7434072" y="2194560"/>
            <a:ext cx="1828800" cy="1143000"/>
          </a:xfrm>
          <a:prstGeom prst="roundRect">
            <a:avLst>
              <a:gd name="adj" fmla="val 6400"/>
            </a:avLst>
          </a:prstGeom>
          <a:solidFill>
            <a:schemeClr val="tx1"/>
          </a:solidFill>
          <a:ln w="12700">
            <a:solidFill>
              <a:schemeClr val="tx1"/>
            </a:solidFill>
            <a:prstDash val="solid"/>
          </a:ln>
        </p:spPr>
      </p:sp>
      <p:sp>
        <p:nvSpPr>
          <p:cNvPr id="30" name="Equation 4"/>
          <p:cNvSpPr txBox="1"/>
          <p:nvPr/>
        </p:nvSpPr>
        <p:spPr>
          <a:xfrm>
            <a:off x="7434072" y="2194560"/>
            <a:ext cx="1828800" cy="1143000"/>
          </a:xfrm>
          <a:prstGeom prst="rect">
            <a:avLst/>
          </a:prstGeom>
          <a:noFill/>
          <a:ln/>
        </p:spPr>
        <p:txBody>
          <a:bodyPr wrap="square" lIns="635" tIns="635" rIns="635" bIns="635" rtlCol="0" anchor="ctr"/>
          <a:lstStyle/>
          <a:p>
            <a:pPr marL="0" indent="0" algn="ctr">
              <a:buNone/>
            </a:pPr>
            <a:r>
              <a:rPr lang="en-US" sz="1400" b="1" dirty="0">
                <a:solidFill>
                  <a:schemeClr val="bg1"/>
                </a:solidFill>
              </a:rPr>
              <a:t>Aθ = Bq</a:t>
            </a:r>
            <a:endParaRPr lang="en-US" sz="1400" dirty="0"/>
          </a:p>
        </p:txBody>
      </p:sp>
      <p:sp>
        <p:nvSpPr>
          <p:cNvPr id="31" name="Step text 4"/>
          <p:cNvSpPr txBox="1"/>
          <p:nvPr/>
        </p:nvSpPr>
        <p:spPr>
          <a:xfrm>
            <a:off x="7434072" y="3474720"/>
            <a:ext cx="1828800" cy="1508760"/>
          </a:xfrm>
          <a:prstGeom prst="rect">
            <a:avLst/>
          </a:prstGeom>
          <a:noFill/>
          <a:ln/>
        </p:spPr>
        <p:txBody>
          <a:bodyPr wrap="square" lIns="0" tIns="0" rIns="0" bIns="0" rtlCol="0" anchor="t"/>
          <a:lstStyle/>
          <a:p>
            <a:pPr marL="0" indent="0">
              <a:buNone/>
            </a:pPr>
            <a:r>
              <a:rPr lang="en-US" sz="1400" dirty="0">
                <a:solidFill>
                  <a:schemeClr val="tx2"/>
                </a:solidFill>
              </a:rPr>
              <a:t>Five-point stencil on a 40 x 40 grid gives a sparse 1600 x 1600 matrix.</a:t>
            </a:r>
            <a:endParaRPr lang="en-US" sz="1400" dirty="0"/>
          </a:p>
        </p:txBody>
      </p:sp>
      <p:sp>
        <p:nvSpPr>
          <p:cNvPr id="32" name="Method card 5"/>
          <p:cNvSpPr/>
          <p:nvPr/>
        </p:nvSpPr>
        <p:spPr>
          <a:xfrm>
            <a:off x="9546336" y="1417320"/>
            <a:ext cx="2103120" cy="3657600"/>
          </a:xfrm>
          <a:prstGeom prst="roundRect">
            <a:avLst>
              <a:gd name="adj" fmla="val 5217"/>
            </a:avLst>
          </a:prstGeom>
          <a:solidFill>
            <a:schemeClr val="bg2"/>
          </a:solidFill>
          <a:ln w="12700">
            <a:solidFill>
              <a:schemeClr val="bg2"/>
            </a:solidFill>
            <a:prstDash val="solid"/>
          </a:ln>
        </p:spPr>
      </p:sp>
      <p:sp>
        <p:nvSpPr>
          <p:cNvPr id="33" name="Step disc 5"/>
          <p:cNvSpPr/>
          <p:nvPr/>
        </p:nvSpPr>
        <p:spPr>
          <a:xfrm>
            <a:off x="9683496" y="1554480"/>
            <a:ext cx="457200" cy="457200"/>
          </a:xfrm>
          <a:prstGeom prst="ellipse">
            <a:avLst/>
          </a:prstGeom>
          <a:solidFill>
            <a:schemeClr val="accent1"/>
          </a:solidFill>
          <a:ln w="12700">
            <a:solidFill>
              <a:schemeClr val="accent1"/>
            </a:solidFill>
            <a:prstDash val="solid"/>
          </a:ln>
        </p:spPr>
      </p:sp>
      <p:sp>
        <p:nvSpPr>
          <p:cNvPr id="34" name="Step number 5"/>
          <p:cNvSpPr txBox="1"/>
          <p:nvPr/>
        </p:nvSpPr>
        <p:spPr>
          <a:xfrm>
            <a:off x="9683496" y="15544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35" name="Step title 5"/>
          <p:cNvSpPr txBox="1"/>
          <p:nvPr/>
        </p:nvSpPr>
        <p:spPr>
          <a:xfrm>
            <a:off x="10232136" y="1536192"/>
            <a:ext cx="1371600" cy="530352"/>
          </a:xfrm>
          <a:prstGeom prst="rect">
            <a:avLst/>
          </a:prstGeom>
          <a:noFill/>
          <a:ln/>
        </p:spPr>
        <p:txBody>
          <a:bodyPr wrap="square" lIns="0" tIns="0" rIns="0" bIns="0" rtlCol="0" anchor="ctr"/>
          <a:lstStyle/>
          <a:p>
            <a:pPr marL="0" indent="0">
              <a:buNone/>
            </a:pPr>
            <a:r>
              <a:rPr lang="en-US" sz="1600" b="1" dirty="0">
                <a:solidFill>
                  <a:schemeClr val="tx1"/>
                </a:solidFill>
              </a:rPr>
              <a:t>Optimize</a:t>
            </a:r>
            <a:endParaRPr lang="en-US" sz="1600" dirty="0"/>
          </a:p>
          <a:p>
            <a:pPr marL="0" indent="0">
              <a:buNone/>
            </a:pPr>
            <a:r>
              <a:rPr lang="en-US" sz="1200" dirty="0">
                <a:solidFill>
                  <a:schemeClr val="accent5"/>
                </a:solidFill>
              </a:rPr>
              <a:t>Linear Programming</a:t>
            </a:r>
            <a:endParaRPr lang="en-US" sz="1600" dirty="0"/>
          </a:p>
        </p:txBody>
      </p:sp>
      <p:sp>
        <p:nvSpPr>
          <p:cNvPr id="36" name="Equation box 5"/>
          <p:cNvSpPr/>
          <p:nvPr/>
        </p:nvSpPr>
        <p:spPr>
          <a:xfrm>
            <a:off x="9683496" y="2194560"/>
            <a:ext cx="1828800" cy="1143000"/>
          </a:xfrm>
          <a:prstGeom prst="roundRect">
            <a:avLst>
              <a:gd name="adj" fmla="val 6400"/>
            </a:avLst>
          </a:prstGeom>
          <a:solidFill>
            <a:schemeClr val="tx1"/>
          </a:solidFill>
          <a:ln w="12700">
            <a:solidFill>
              <a:schemeClr val="tx1"/>
            </a:solidFill>
            <a:prstDash val="solid"/>
          </a:ln>
        </p:spPr>
      </p:sp>
      <p:sp>
        <p:nvSpPr>
          <p:cNvPr id="37" name="Equation 5"/>
          <p:cNvSpPr txBox="1"/>
          <p:nvPr/>
        </p:nvSpPr>
        <p:spPr>
          <a:xfrm>
            <a:off x="9683496" y="2194560"/>
            <a:ext cx="1828800" cy="1143000"/>
          </a:xfrm>
          <a:prstGeom prst="rect">
            <a:avLst/>
          </a:prstGeom>
          <a:noFill/>
          <a:ln/>
        </p:spPr>
        <p:txBody>
          <a:bodyPr wrap="square" lIns="635" tIns="635" rIns="635" bIns="635" rtlCol="0" anchor="ctr"/>
          <a:lstStyle/>
          <a:p>
            <a:pPr marL="0" indent="0" algn="ctr">
              <a:buNone/>
            </a:pPr>
            <a:r>
              <a:rPr lang="en-US" sz="1200" b="1" dirty="0">
                <a:solidFill>
                  <a:schemeClr val="bg1"/>
                </a:solidFill>
              </a:rPr>
              <a:t>min t</a:t>
            </a:r>
            <a:endParaRPr lang="en-US" sz="1200" dirty="0"/>
          </a:p>
          <a:p>
            <a:pPr marL="0" indent="0" algn="ctr">
              <a:buNone/>
            </a:pPr>
            <a:r>
              <a:rPr lang="en-US" sz="1200" b="1" dirty="0">
                <a:solidFill>
                  <a:schemeClr val="bg1"/>
                </a:solidFill>
              </a:rPr>
              <a:t>s.t. Aθ = Bq</a:t>
            </a:r>
            <a:endParaRPr lang="en-US" sz="1200" dirty="0"/>
          </a:p>
          <a:p>
            <a:pPr marL="0" indent="0" algn="ctr">
              <a:buNone/>
            </a:pPr>
            <a:r>
              <a:rPr lang="en-US" sz="1200" b="1" dirty="0">
                <a:solidFill>
                  <a:schemeClr val="bg1"/>
                </a:solidFill>
              </a:rPr>
              <a:t>θ ≤ t,  Σq = 5 W</a:t>
            </a:r>
            <a:endParaRPr lang="en-US" sz="1200" dirty="0"/>
          </a:p>
          <a:p>
            <a:pPr marL="0" indent="0" algn="ctr">
              <a:buNone/>
            </a:pPr>
            <a:r>
              <a:rPr lang="en-US" sz="1200" b="1" dirty="0">
                <a:solidFill>
                  <a:schemeClr val="bg1"/>
                </a:solidFill>
              </a:rPr>
              <a:t>q ≥ 0,  q(L2) ≥ 0.3 W</a:t>
            </a:r>
            <a:endParaRPr lang="en-US" sz="1200" dirty="0"/>
          </a:p>
        </p:txBody>
      </p:sp>
      <p:sp>
        <p:nvSpPr>
          <p:cNvPr id="38" name="Step text 5"/>
          <p:cNvSpPr txBox="1"/>
          <p:nvPr/>
        </p:nvSpPr>
        <p:spPr>
          <a:xfrm>
            <a:off x="9683496" y="3474720"/>
            <a:ext cx="1828800" cy="1508760"/>
          </a:xfrm>
          <a:prstGeom prst="rect">
            <a:avLst/>
          </a:prstGeom>
          <a:noFill/>
          <a:ln/>
        </p:spPr>
        <p:txBody>
          <a:bodyPr wrap="square" lIns="0" tIns="0" rIns="0" bIns="0" rtlCol="0" anchor="t"/>
          <a:lstStyle/>
          <a:p>
            <a:pPr marL="0" indent="0">
              <a:buNone/>
            </a:pPr>
            <a:r>
              <a:rPr lang="en-US" sz="1400" dirty="0">
                <a:solidFill>
                  <a:schemeClr val="tx2"/>
                </a:solidFill>
              </a:rPr>
              <a:t>The variable t bounds every node, so minimizing t minimizes the peak.</a:t>
            </a:r>
            <a:endParaRPr lang="en-US" sz="1400" dirty="0"/>
          </a:p>
        </p:txBody>
      </p:sp>
      <p:sp>
        <p:nvSpPr>
          <p:cNvPr id="39" name="LP reasoning"/>
          <p:cNvSpPr txBox="1"/>
          <p:nvPr/>
        </p:nvSpPr>
        <p:spPr>
          <a:xfrm>
            <a:off x="548640" y="5257800"/>
            <a:ext cx="11064240" cy="548640"/>
          </a:xfrm>
          <a:prstGeom prst="rect">
            <a:avLst/>
          </a:prstGeom>
          <a:noFill/>
          <a:ln/>
        </p:spPr>
        <p:txBody>
          <a:bodyPr wrap="square" lIns="0" tIns="0" rIns="0" bIns="0" rtlCol="0" anchor="ctr"/>
          <a:lstStyle/>
          <a:p>
            <a:pPr marL="0" indent="0">
              <a:buNone/>
            </a:pPr>
            <a:r>
              <a:rPr lang="en-US" sz="1500" b="1" dirty="0">
                <a:solidFill>
                  <a:schemeClr val="accent1"/>
                </a:solidFill>
              </a:rPr>
              <a:t>Why this is an LP.  </a:t>
            </a:r>
            <a:r>
              <a:rPr lang="en-US" sz="1500" dirty="0">
                <a:solidFill>
                  <a:schemeClr val="tx1"/>
                </a:solidFill>
              </a:rPr>
              <a:t>Because θ = A⁻¹Bq is linear in the powers q, the peak is a maximum of linear functions. The extra variable t turns that maximum into ordinary linear constraints.</a:t>
            </a:r>
            <a:endParaRPr lang="en-US" sz="1500" dirty="0"/>
          </a:p>
        </p:txBody>
      </p:sp>
      <p:sp>
        <p:nvSpPr>
          <p:cNvPr id="40" name="Symbol key"/>
          <p:cNvSpPr txBox="1"/>
          <p:nvPr/>
        </p:nvSpPr>
        <p:spPr>
          <a:xfrm>
            <a:off x="548640" y="5852160"/>
            <a:ext cx="11064240" cy="457200"/>
          </a:xfrm>
          <a:prstGeom prst="rect">
            <a:avLst/>
          </a:prstGeom>
          <a:noFill/>
          <a:ln/>
        </p:spPr>
        <p:txBody>
          <a:bodyPr wrap="square" lIns="0" tIns="0" rIns="0" bIns="0" rtlCol="0" anchor="t"/>
          <a:lstStyle/>
          <a:p>
            <a:pPr marL="0" indent="0">
              <a:buNone/>
            </a:pPr>
            <a:r>
              <a:rPr lang="en-US" sz="1100" dirty="0">
                <a:solidFill>
                  <a:schemeClr val="accent5"/>
                </a:solidFill>
              </a:rPr>
              <a:t>T: temperature (K)   k: conductivity, 150 W/(m K)   Q: heat generation   s: Laplace variable   Zth: thermal impedance (K/W)   θ: temperature rise   q: block powers (W)   t: peak rise (K)</a:t>
            </a:r>
            <a:endParaRPr lang="en-US" sz="1100" dirty="0"/>
          </a:p>
        </p:txBody>
      </p:sp>
      <p:sp>
        <p:nvSpPr>
          <p:cNvPr id="41"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label"/>
          <p:cNvSpPr txBox="1"/>
          <p:nvPr/>
        </p:nvSpPr>
        <p:spPr>
          <a:xfrm>
            <a:off x="548640" y="228600"/>
            <a:ext cx="73152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5  EXPERIMENTAL SETUP</a:t>
            </a:r>
            <a:endParaRPr lang="en-US" sz="1200" dirty="0"/>
          </a:p>
        </p:txBody>
      </p:sp>
      <p:sp>
        <p:nvSpPr>
          <p:cNvPr id="3" name="Text 0"/>
          <p:cNvSpPr>
            <a:spLocks noGrp="1"/>
          </p:cNvSpPr>
          <p:nvPr>
            <p:ph type="title" idx="100" hasCustomPrompt="1"/>
          </p:nvPr>
        </p:nvSpPr>
        <p:spPr>
          <a:xfrm>
            <a:off x="548640" y="502920"/>
            <a:ext cx="11064240" cy="731520"/>
          </a:xfrm>
          <a:prstGeom prst="rect">
            <a:avLst/>
          </a:prstGeom>
          <a:noFill/>
          <a:ln/>
        </p:spPr>
        <p:txBody>
          <a:bodyPr wrap="square" lIns="0" tIns="0" rIns="0" bIns="0" rtlCol="0" anchor="ctr"/>
          <a:lstStyle/>
          <a:p>
            <a:pPr marL="0" indent="0" algn="l">
              <a:buNone/>
            </a:pPr>
            <a:r>
              <a:rPr lang="en-US" sz="3400" b="1" dirty="0">
                <a:solidFill>
                  <a:schemeClr val="tx1"/>
                </a:solidFill>
              </a:rPr>
              <a:t>A modular Python pipeline</a:t>
            </a:r>
            <a:endParaRPr lang="en-US" sz="3400" dirty="0"/>
          </a:p>
        </p:txBody>
      </p:sp>
      <p:sp>
        <p:nvSpPr>
          <p:cNvPr id="4" name="Chip model card"/>
          <p:cNvSpPr/>
          <p:nvPr/>
        </p:nvSpPr>
        <p:spPr>
          <a:xfrm>
            <a:off x="548640" y="1508760"/>
            <a:ext cx="5394960" cy="4572000"/>
          </a:xfrm>
          <a:prstGeom prst="roundRect">
            <a:avLst>
              <a:gd name="adj" fmla="val 2400"/>
            </a:avLst>
          </a:prstGeom>
          <a:solidFill>
            <a:schemeClr val="bg2"/>
          </a:solidFill>
          <a:ln w="12700">
            <a:solidFill>
              <a:schemeClr val="bg2"/>
            </a:solidFill>
            <a:prstDash val="solid"/>
          </a:ln>
        </p:spPr>
      </p:sp>
      <p:pic>
        <p:nvPicPr>
          <p:cNvPr id="5" name="Image 0" descr="Chip icon"/>
          <p:cNvPicPr>
            <a:picLocks noChangeAspect="1"/>
          </p:cNvPicPr>
          <p:nvPr/>
        </p:nvPicPr>
        <p:blipFill>
          <a:blip r:embed="rId3"/>
          <a:stretch>
            <a:fillRect/>
          </a:stretch>
        </p:blipFill>
        <p:spPr>
          <a:xfrm>
            <a:off x="822960" y="1737360"/>
            <a:ext cx="411480" cy="411480"/>
          </a:xfrm>
          <a:prstGeom prst="rect">
            <a:avLst/>
          </a:prstGeom>
        </p:spPr>
      </p:pic>
      <p:sp>
        <p:nvSpPr>
          <p:cNvPr id="6" name="Chip heading"/>
          <p:cNvSpPr txBox="1"/>
          <p:nvPr/>
        </p:nvSpPr>
        <p:spPr>
          <a:xfrm>
            <a:off x="1371600" y="1691640"/>
            <a:ext cx="4389120" cy="502920"/>
          </a:xfrm>
          <a:prstGeom prst="rect">
            <a:avLst/>
          </a:prstGeom>
          <a:noFill/>
          <a:ln/>
        </p:spPr>
        <p:txBody>
          <a:bodyPr wrap="square" lIns="0" tIns="0" rIns="0" bIns="0" rtlCol="0" anchor="ctr"/>
          <a:lstStyle/>
          <a:p>
            <a:pPr marL="0" indent="0">
              <a:buNone/>
            </a:pPr>
            <a:r>
              <a:rPr lang="en-US" sz="2000" b="1" dirty="0">
                <a:solidFill>
                  <a:schemeClr val="tx1"/>
                </a:solidFill>
              </a:rPr>
              <a:t>The chip we model</a:t>
            </a:r>
            <a:endParaRPr lang="en-US" sz="2000" dirty="0"/>
          </a:p>
        </p:txBody>
      </p:sp>
      <p:sp>
        <p:nvSpPr>
          <p:cNvPr id="7" name="Chip text"/>
          <p:cNvSpPr txBox="1"/>
          <p:nvPr/>
        </p:nvSpPr>
        <p:spPr>
          <a:xfrm>
            <a:off x="822960" y="2423160"/>
            <a:ext cx="4846320" cy="3474720"/>
          </a:xfrm>
          <a:prstGeom prst="rect">
            <a:avLst/>
          </a:prstGeom>
          <a:noFill/>
          <a:ln/>
        </p:spPr>
        <p:txBody>
          <a:bodyPr wrap="square" lIns="0" tIns="0" rIns="0" bIns="0" rtlCol="0" anchor="t"/>
          <a:lstStyle/>
          <a:p>
            <a:pPr marL="0" indent="0">
              <a:spcAft>
                <a:spcPts val="1600"/>
              </a:spcAft>
              <a:buNone/>
            </a:pPr>
            <a:r>
              <a:rPr lang="en-US" sz="1700" dirty="0">
                <a:solidFill>
                  <a:schemeClr val="tx2"/>
                </a:solidFill>
              </a:rPr>
              <a:t>The core design follows FRISC-V, a published open-source RV32I core with a 5-stage pipeline [6].</a:t>
            </a:r>
            <a:endParaRPr lang="en-US" sz="1700" dirty="0"/>
          </a:p>
          <a:p>
            <a:pPr marL="0" indent="0">
              <a:spcAft>
                <a:spcPts val="1600"/>
              </a:spcAft>
              <a:buNone/>
            </a:pPr>
            <a:r>
              <a:rPr lang="en-US" sz="1700" dirty="0">
                <a:solidFill>
                  <a:schemeClr val="tx2"/>
                </a:solidFill>
              </a:rPr>
              <a:t>Four cores sit in the die quadrants and a shared L2 cache sits at the center, the usual layout that keeps wires short.</a:t>
            </a:r>
            <a:endParaRPr lang="en-US" sz="1700" dirty="0"/>
          </a:p>
          <a:p>
            <a:pPr marL="0" indent="0">
              <a:spcAft>
                <a:spcPts val="1600"/>
              </a:spcAft>
              <a:buNone/>
            </a:pPr>
            <a:r>
              <a:rPr lang="en-US" sz="1700" dirty="0">
                <a:solidFill>
                  <a:schemeClr val="tx2"/>
                </a:solidFill>
              </a:rPr>
              <a:t>Blocks are flat rectangles on a 40 x 40 grid. The brief's four-point layout is kept as a validation case.</a:t>
            </a:r>
            <a:endParaRPr lang="en-US" sz="1700" dirty="0"/>
          </a:p>
        </p:txBody>
      </p:sp>
      <p:sp>
        <p:nvSpPr>
          <p:cNvPr id="8" name="Tools card"/>
          <p:cNvSpPr/>
          <p:nvPr/>
        </p:nvSpPr>
        <p:spPr>
          <a:xfrm>
            <a:off x="6217920" y="1508760"/>
            <a:ext cx="5394960" cy="2194560"/>
          </a:xfrm>
          <a:prstGeom prst="roundRect">
            <a:avLst>
              <a:gd name="adj" fmla="val 5000"/>
            </a:avLst>
          </a:prstGeom>
          <a:solidFill>
            <a:schemeClr val="bg2"/>
          </a:solidFill>
          <a:ln w="12700">
            <a:solidFill>
              <a:schemeClr val="bg2"/>
            </a:solidFill>
            <a:prstDash val="solid"/>
          </a:ln>
        </p:spPr>
      </p:sp>
      <p:pic>
        <p:nvPicPr>
          <p:cNvPr id="9" name="Image 1" descr="Python icon"/>
          <p:cNvPicPr>
            <a:picLocks noChangeAspect="1"/>
          </p:cNvPicPr>
          <p:nvPr/>
        </p:nvPicPr>
        <p:blipFill>
          <a:blip r:embed="rId4"/>
          <a:stretch>
            <a:fillRect/>
          </a:stretch>
        </p:blipFill>
        <p:spPr>
          <a:xfrm>
            <a:off x="6492240" y="1737360"/>
            <a:ext cx="411480" cy="411480"/>
          </a:xfrm>
          <a:prstGeom prst="rect">
            <a:avLst/>
          </a:prstGeom>
        </p:spPr>
      </p:pic>
      <p:sp>
        <p:nvSpPr>
          <p:cNvPr id="10" name="Tools heading"/>
          <p:cNvSpPr txBox="1"/>
          <p:nvPr/>
        </p:nvSpPr>
        <p:spPr>
          <a:xfrm>
            <a:off x="7040880" y="1691640"/>
            <a:ext cx="4389120" cy="502920"/>
          </a:xfrm>
          <a:prstGeom prst="rect">
            <a:avLst/>
          </a:prstGeom>
          <a:noFill/>
          <a:ln/>
        </p:spPr>
        <p:txBody>
          <a:bodyPr wrap="square" lIns="0" tIns="0" rIns="0" bIns="0" rtlCol="0" anchor="ctr"/>
          <a:lstStyle/>
          <a:p>
            <a:pPr marL="0" indent="0">
              <a:buNone/>
            </a:pPr>
            <a:r>
              <a:rPr lang="en-US" sz="2000" b="1" dirty="0">
                <a:solidFill>
                  <a:schemeClr val="tx1"/>
                </a:solidFill>
              </a:rPr>
              <a:t>Tools</a:t>
            </a:r>
            <a:endParaRPr lang="en-US" sz="2000" dirty="0"/>
          </a:p>
        </p:txBody>
      </p:sp>
      <p:sp>
        <p:nvSpPr>
          <p:cNvPr id="11" name="Tools text"/>
          <p:cNvSpPr txBox="1"/>
          <p:nvPr/>
        </p:nvSpPr>
        <p:spPr>
          <a:xfrm>
            <a:off x="6492240" y="2377440"/>
            <a:ext cx="4846320" cy="1234440"/>
          </a:xfrm>
          <a:prstGeom prst="rect">
            <a:avLst/>
          </a:prstGeom>
          <a:noFill/>
          <a:ln/>
        </p:spPr>
        <p:txBody>
          <a:bodyPr wrap="square" lIns="0" tIns="0" rIns="0" bIns="0" rtlCol="0" anchor="t"/>
          <a:lstStyle/>
          <a:p>
            <a:pPr marL="0" indent="0">
              <a:buNone/>
            </a:pPr>
            <a:r>
              <a:rPr lang="en-US" sz="1500" dirty="0">
                <a:solidFill>
                  <a:schemeClr val="tx2"/>
                </a:solidFill>
              </a:rPr>
              <a:t>Python 3 with NumPy, SciPy (sparse matrices and linprog with the HiGHS solver [5]) and Matplotlib. A Tkinter dashboard reuses the same solver functions as the batch run.</a:t>
            </a:r>
            <a:endParaRPr lang="en-US" sz="1500" dirty="0"/>
          </a:p>
        </p:txBody>
      </p:sp>
      <p:sp>
        <p:nvSpPr>
          <p:cNvPr id="12" name="Setup stat 1"/>
          <p:cNvSpPr/>
          <p:nvPr/>
        </p:nvSpPr>
        <p:spPr>
          <a:xfrm>
            <a:off x="6217920" y="3931920"/>
            <a:ext cx="1737360" cy="2148840"/>
          </a:xfrm>
          <a:prstGeom prst="roundRect">
            <a:avLst>
              <a:gd name="adj" fmla="val 6316"/>
            </a:avLst>
          </a:prstGeom>
          <a:solidFill>
            <a:schemeClr val="tx1"/>
          </a:solidFill>
          <a:ln w="12700">
            <a:solidFill>
              <a:schemeClr val="tx1"/>
            </a:solidFill>
            <a:prstDash val="solid"/>
          </a:ln>
        </p:spPr>
      </p:sp>
      <p:sp>
        <p:nvSpPr>
          <p:cNvPr id="13" name="Setup stat text 1"/>
          <p:cNvSpPr txBox="1"/>
          <p:nvPr/>
        </p:nvSpPr>
        <p:spPr>
          <a:xfrm>
            <a:off x="6309360" y="4023360"/>
            <a:ext cx="1554480" cy="1965960"/>
          </a:xfrm>
          <a:prstGeom prst="rect">
            <a:avLst/>
          </a:prstGeom>
          <a:noFill/>
          <a:ln/>
        </p:spPr>
        <p:txBody>
          <a:bodyPr wrap="square" lIns="0" tIns="0" rIns="0" bIns="0" rtlCol="0" anchor="ctr"/>
          <a:lstStyle/>
          <a:p>
            <a:pPr marL="0" indent="0" algn="ctr">
              <a:buNone/>
            </a:pPr>
            <a:r>
              <a:rPr lang="en-US" sz="2000" b="1" dirty="0">
                <a:solidFill>
                  <a:schemeClr val="accent2"/>
                </a:solidFill>
              </a:rPr>
              <a:t>1600 x 1600</a:t>
            </a:r>
            <a:endParaRPr lang="en-US" sz="2000" dirty="0"/>
          </a:p>
          <a:p>
            <a:pPr marL="0" indent="0" algn="ctr">
              <a:buNone/>
            </a:pPr>
            <a:r>
              <a:rPr lang="en-US" sz="1300" dirty="0">
                <a:solidFill>
                  <a:schemeClr val="bg1"/>
                </a:solidFill>
              </a:rPr>
              <a:t>sparse matrix A</a:t>
            </a:r>
            <a:endParaRPr lang="en-US" sz="2000" dirty="0"/>
          </a:p>
        </p:txBody>
      </p:sp>
      <p:sp>
        <p:nvSpPr>
          <p:cNvPr id="14" name="Setup stat 2"/>
          <p:cNvSpPr/>
          <p:nvPr/>
        </p:nvSpPr>
        <p:spPr>
          <a:xfrm>
            <a:off x="8046720" y="3931920"/>
            <a:ext cx="1737360" cy="2148840"/>
          </a:xfrm>
          <a:prstGeom prst="roundRect">
            <a:avLst>
              <a:gd name="adj" fmla="val 6316"/>
            </a:avLst>
          </a:prstGeom>
          <a:solidFill>
            <a:schemeClr val="tx1"/>
          </a:solidFill>
          <a:ln w="12700">
            <a:solidFill>
              <a:schemeClr val="tx1"/>
            </a:solidFill>
            <a:prstDash val="solid"/>
          </a:ln>
        </p:spPr>
      </p:sp>
      <p:sp>
        <p:nvSpPr>
          <p:cNvPr id="15" name="Setup stat text 2"/>
          <p:cNvSpPr txBox="1"/>
          <p:nvPr/>
        </p:nvSpPr>
        <p:spPr>
          <a:xfrm>
            <a:off x="8138160" y="4023360"/>
            <a:ext cx="1554480" cy="1965960"/>
          </a:xfrm>
          <a:prstGeom prst="rect">
            <a:avLst/>
          </a:prstGeom>
          <a:noFill/>
          <a:ln/>
        </p:spPr>
        <p:txBody>
          <a:bodyPr wrap="square" lIns="0" tIns="0" rIns="0" bIns="0" rtlCol="0" anchor="ctr"/>
          <a:lstStyle/>
          <a:p>
            <a:pPr marL="0" indent="0" algn="ctr">
              <a:buNone/>
            </a:pPr>
            <a:r>
              <a:rPr lang="en-US" sz="2000" b="1" dirty="0">
                <a:solidFill>
                  <a:schemeClr val="accent2"/>
                </a:solidFill>
              </a:rPr>
              <a:t>16 / 16</a:t>
            </a:r>
            <a:endParaRPr lang="en-US" sz="2000" dirty="0"/>
          </a:p>
          <a:p>
            <a:pPr marL="0" indent="0" algn="ctr">
              <a:buNone/>
            </a:pPr>
            <a:r>
              <a:rPr lang="en-US" sz="1300" dirty="0">
                <a:solidFill>
                  <a:schemeClr val="bg1"/>
                </a:solidFill>
              </a:rPr>
              <a:t>unit tests pass</a:t>
            </a:r>
            <a:endParaRPr lang="en-US" sz="2000" dirty="0"/>
          </a:p>
        </p:txBody>
      </p:sp>
      <p:sp>
        <p:nvSpPr>
          <p:cNvPr id="16" name="Setup stat 3"/>
          <p:cNvSpPr/>
          <p:nvPr/>
        </p:nvSpPr>
        <p:spPr>
          <a:xfrm>
            <a:off x="9875520" y="3931920"/>
            <a:ext cx="1737360" cy="2148840"/>
          </a:xfrm>
          <a:prstGeom prst="roundRect">
            <a:avLst>
              <a:gd name="adj" fmla="val 6316"/>
            </a:avLst>
          </a:prstGeom>
          <a:solidFill>
            <a:schemeClr val="tx1"/>
          </a:solidFill>
          <a:ln w="12700">
            <a:solidFill>
              <a:schemeClr val="tx1"/>
            </a:solidFill>
            <a:prstDash val="solid"/>
          </a:ln>
        </p:spPr>
      </p:sp>
      <p:sp>
        <p:nvSpPr>
          <p:cNvPr id="17" name="Setup stat text 3"/>
          <p:cNvSpPr txBox="1"/>
          <p:nvPr/>
        </p:nvSpPr>
        <p:spPr>
          <a:xfrm>
            <a:off x="9966960" y="4023360"/>
            <a:ext cx="1554480" cy="1965960"/>
          </a:xfrm>
          <a:prstGeom prst="rect">
            <a:avLst/>
          </a:prstGeom>
          <a:noFill/>
          <a:ln/>
        </p:spPr>
        <p:txBody>
          <a:bodyPr wrap="square" lIns="0" tIns="0" rIns="0" bIns="0" rtlCol="0" anchor="ctr"/>
          <a:lstStyle/>
          <a:p>
            <a:pPr marL="0" indent="0" algn="ctr">
              <a:buNone/>
            </a:pPr>
            <a:r>
              <a:rPr lang="en-US" sz="2000" b="1" dirty="0">
                <a:solidFill>
                  <a:schemeClr val="accent2"/>
                </a:solidFill>
              </a:rPr>
              <a:t>1 command</a:t>
            </a:r>
            <a:endParaRPr lang="en-US" sz="2000" dirty="0"/>
          </a:p>
          <a:p>
            <a:pPr marL="0" indent="0" algn="ctr">
              <a:buNone/>
            </a:pPr>
            <a:r>
              <a:rPr lang="en-US" sz="1300" dirty="0">
                <a:solidFill>
                  <a:schemeClr val="bg1"/>
                </a:solidFill>
              </a:rPr>
              <a:t>python run.py</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label"/>
          <p:cNvSpPr txBox="1"/>
          <p:nvPr/>
        </p:nvSpPr>
        <p:spPr>
          <a:xfrm>
            <a:off x="548640" y="228600"/>
            <a:ext cx="73152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6  RESULTS</a:t>
            </a:r>
            <a:endParaRPr lang="en-US" sz="1200" dirty="0"/>
          </a:p>
        </p:txBody>
      </p:sp>
      <p:sp>
        <p:nvSpPr>
          <p:cNvPr id="3" name="Text 0"/>
          <p:cNvSpPr>
            <a:spLocks noGrp="1"/>
          </p:cNvSpPr>
          <p:nvPr>
            <p:ph type="title" idx="100" hasCustomPrompt="1"/>
          </p:nvPr>
        </p:nvSpPr>
        <p:spPr>
          <a:xfrm>
            <a:off x="548640" y="502920"/>
            <a:ext cx="11064240" cy="731520"/>
          </a:xfrm>
          <a:prstGeom prst="rect">
            <a:avLst/>
          </a:prstGeom>
          <a:noFill/>
          <a:ln/>
        </p:spPr>
        <p:txBody>
          <a:bodyPr wrap="square" lIns="0" tIns="0" rIns="0" bIns="0" rtlCol="0" anchor="ctr"/>
          <a:lstStyle/>
          <a:p>
            <a:pPr marL="0" indent="0" algn="l">
              <a:buNone/>
            </a:pPr>
            <a:r>
              <a:rPr lang="en-US" sz="3400" b="1" dirty="0">
                <a:solidFill>
                  <a:schemeClr val="tx1"/>
                </a:solidFill>
              </a:rPr>
              <a:t>The LP lowers the peak by up to 5.79 K</a:t>
            </a:r>
            <a:endParaRPr lang="en-US" sz="3400" dirty="0"/>
          </a:p>
        </p:txBody>
      </p:sp>
      <p:graphicFrame>
        <p:nvGraphicFramePr>
          <p:cNvPr id="4" name="Chart 0"/>
          <p:cNvGraphicFramePr/>
          <p:nvPr/>
        </p:nvGraphicFramePr>
        <p:xfrm>
          <a:off x="457200" y="1325880"/>
          <a:ext cx="5852160" cy="35204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Results table"/>
          <p:cNvGraphicFramePr>
            <a:graphicFrameLocks noGrp="1"/>
          </p:cNvGraphicFramePr>
          <p:nvPr>
            <p:extLst>
              <p:ext uri="{D42A27DB-BD31-4B8C-83A1-F6EECF244321}">
                <p14:modId xmlns:p14="http://schemas.microsoft.com/office/powerpoint/2010/main" val="1579011935"/>
              </p:ext>
            </p:extLst>
          </p:nvPr>
        </p:nvGraphicFramePr>
        <p:xfrm>
          <a:off x="6583680" y="1371600"/>
          <a:ext cx="5029200" cy="914400"/>
        </p:xfrm>
        <a:graphic>
          <a:graphicData uri="http://schemas.openxmlformats.org/drawingml/2006/table">
            <a:tbl>
              <a:tblPr/>
              <a:tblGrid>
                <a:gridCol w="210312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tblGrid>
              <a:tr h="411480">
                <a:tc>
                  <a:txBody>
                    <a:bodyPr/>
                    <a:lstStyle/>
                    <a:p>
                      <a:pPr marL="0" indent="0" algn="ctr">
                        <a:buNone/>
                      </a:pPr>
                      <a:r>
                        <a:rPr lang="en-US" sz="1300" b="1" dirty="0">
                          <a:solidFill>
                            <a:schemeClr val="bg1"/>
                          </a:solidFill>
                        </a:rPr>
                        <a:t>Case</a:t>
                      </a:r>
                      <a:endParaRPr lang="en-US" sz="13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c>
                  <a:txBody>
                    <a:bodyPr/>
                    <a:lstStyle/>
                    <a:p>
                      <a:pPr marL="0" indent="0" algn="ctr">
                        <a:buNone/>
                      </a:pPr>
                      <a:r>
                        <a:rPr lang="en-US" sz="1300" b="1" dirty="0">
                          <a:solidFill>
                            <a:schemeClr val="bg1"/>
                          </a:solidFill>
                        </a:rPr>
                        <a:t>Uniform (K)</a:t>
                      </a:r>
                      <a:endParaRPr lang="en-US" sz="13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c>
                  <a:txBody>
                    <a:bodyPr/>
                    <a:lstStyle/>
                    <a:p>
                      <a:pPr marL="0" indent="0" algn="ctr">
                        <a:buNone/>
                      </a:pPr>
                      <a:r>
                        <a:rPr lang="en-US" sz="1300" b="1" dirty="0">
                          <a:solidFill>
                            <a:schemeClr val="bg1"/>
                          </a:solidFill>
                        </a:rPr>
                        <a:t>LP (K)</a:t>
                      </a:r>
                      <a:endParaRPr lang="en-US" sz="13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c>
                  <a:txBody>
                    <a:bodyPr/>
                    <a:lstStyle/>
                    <a:p>
                      <a:pPr marL="0" indent="0" algn="ctr">
                        <a:buNone/>
                      </a:pPr>
                      <a:r>
                        <a:rPr lang="en-US" sz="1300" b="1" dirty="0">
                          <a:solidFill>
                            <a:schemeClr val="bg1"/>
                          </a:solidFill>
                        </a:rPr>
                        <a:t>Drop (K)</a:t>
                      </a:r>
                      <a:endParaRPr lang="en-US" sz="13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11480">
                <a:tc>
                  <a:txBody>
                    <a:bodyPr/>
                    <a:lstStyle/>
                    <a:p>
                      <a:pPr marL="0" indent="0" algn="l">
                        <a:buNone/>
                      </a:pPr>
                      <a:r>
                        <a:rPr lang="en-US" sz="1300" dirty="0">
                          <a:solidFill>
                            <a:schemeClr val="tx1"/>
                          </a:solidFill>
                        </a:rPr>
                        <a:t>A: all cores active</a:t>
                      </a:r>
                      <a:endParaRPr lang="en-US" sz="13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325.18</a:t>
                      </a:r>
                      <a:endParaRPr lang="en-US" sz="13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322.86</a:t>
                      </a:r>
                      <a:endParaRPr lang="en-US" sz="13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b="1" dirty="0">
                          <a:solidFill>
                            <a:schemeClr val="tx1"/>
                          </a:solidFill>
                        </a:rPr>
                        <a:t>2.31</a:t>
                      </a:r>
                      <a:endParaRPr lang="en-US" sz="13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11480">
                <a:tc>
                  <a:txBody>
                    <a:bodyPr/>
                    <a:lstStyle/>
                    <a:p>
                      <a:pPr marL="0" indent="0" algn="l">
                        <a:buNone/>
                      </a:pPr>
                      <a:r>
                        <a:rPr lang="en-US" sz="1300" dirty="0">
                          <a:solidFill>
                            <a:schemeClr val="tx1"/>
                          </a:solidFill>
                        </a:rPr>
                        <a:t>B: two cores idle</a:t>
                      </a:r>
                      <a:endParaRPr lang="en-US" sz="13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328.65</a:t>
                      </a:r>
                      <a:endParaRPr lang="en-US" sz="13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322.86</a:t>
                      </a:r>
                      <a:endParaRPr lang="en-US" sz="13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b="1" dirty="0">
                          <a:solidFill>
                            <a:schemeClr val="accent1"/>
                          </a:solidFill>
                        </a:rPr>
                        <a:t>5.79</a:t>
                      </a:r>
                      <a:endParaRPr lang="en-US" sz="13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11480">
                <a:tc>
                  <a:txBody>
                    <a:bodyPr/>
                    <a:lstStyle/>
                    <a:p>
                      <a:pPr marL="0" indent="0" algn="l">
                        <a:buNone/>
                      </a:pPr>
                      <a:r>
                        <a:rPr lang="en-US" sz="1300" dirty="0">
                          <a:solidFill>
                            <a:schemeClr val="tx1"/>
                          </a:solidFill>
                        </a:rPr>
                        <a:t>Brief's 4-point layout</a:t>
                      </a:r>
                      <a:endParaRPr lang="en-US" sz="13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343.45</a:t>
                      </a:r>
                      <a:endParaRPr lang="en-US" sz="13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343.45</a:t>
                      </a:r>
                      <a:endParaRPr lang="en-US" sz="13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b="1" dirty="0">
                          <a:solidFill>
                            <a:schemeClr val="tx1"/>
                          </a:solidFill>
                        </a:rPr>
                        <a:t>0.00</a:t>
                      </a:r>
                      <a:endParaRPr lang="en-US" sz="13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bl>
          </a:graphicData>
        </a:graphic>
      </p:graphicFrame>
      <p:sp>
        <p:nvSpPr>
          <p:cNvPr id="6" name="Results interpretation"/>
          <p:cNvSpPr txBox="1"/>
          <p:nvPr/>
        </p:nvSpPr>
        <p:spPr>
          <a:xfrm>
            <a:off x="6583680" y="3200400"/>
            <a:ext cx="5029200" cy="1645920"/>
          </a:xfrm>
          <a:prstGeom prst="rect">
            <a:avLst/>
          </a:prstGeom>
          <a:noFill/>
          <a:ln/>
        </p:spPr>
        <p:txBody>
          <a:bodyPr wrap="square" lIns="0" tIns="0" rIns="0" bIns="0" rtlCol="0" anchor="t"/>
          <a:lstStyle/>
          <a:p>
            <a:pPr marL="0" indent="0">
              <a:buNone/>
            </a:pPr>
            <a:r>
              <a:rPr lang="en-US" sz="1400" dirty="0">
                <a:solidFill>
                  <a:schemeClr val="tx2"/>
                </a:solidFill>
              </a:rPr>
              <a:t>Both scenarios end at the same plan: 1.175 W per core and 0.300 W for the L2 cache. The LP works on the physics, not the workload, so equal core power with a minimal cache wins. The idle cores in B simply made the uniform split worse.</a:t>
            </a:r>
            <a:endParaRPr lang="en-US" sz="1400" dirty="0"/>
          </a:p>
        </p:txBody>
      </p:sp>
      <p:sp>
        <p:nvSpPr>
          <p:cNvPr id="7" name="Result stat 1"/>
          <p:cNvSpPr/>
          <p:nvPr/>
        </p:nvSpPr>
        <p:spPr>
          <a:xfrm>
            <a:off x="548640" y="5029200"/>
            <a:ext cx="3566160" cy="1188720"/>
          </a:xfrm>
          <a:prstGeom prst="roundRect">
            <a:avLst>
              <a:gd name="adj" fmla="val 9231"/>
            </a:avLst>
          </a:prstGeom>
          <a:solidFill>
            <a:schemeClr val="tx1"/>
          </a:solidFill>
          <a:ln w="12700">
            <a:solidFill>
              <a:schemeClr val="tx1"/>
            </a:solidFill>
            <a:prstDash val="solid"/>
          </a:ln>
        </p:spPr>
      </p:sp>
      <p:sp>
        <p:nvSpPr>
          <p:cNvPr id="5" name="Result stat text 1"/>
          <p:cNvSpPr txBox="1"/>
          <p:nvPr/>
        </p:nvSpPr>
        <p:spPr>
          <a:xfrm>
            <a:off x="731520" y="5074920"/>
            <a:ext cx="3200400" cy="1097280"/>
          </a:xfrm>
          <a:prstGeom prst="rect">
            <a:avLst/>
          </a:prstGeom>
          <a:noFill/>
          <a:ln/>
        </p:spPr>
        <p:txBody>
          <a:bodyPr wrap="square" lIns="0" tIns="0" rIns="0" bIns="0" rtlCol="0" anchor="ctr"/>
          <a:lstStyle/>
          <a:p>
            <a:pPr marL="0" indent="0" algn="l">
              <a:buNone/>
            </a:pPr>
            <a:r>
              <a:rPr lang="en-US" sz="2400" b="1" dirty="0">
                <a:solidFill>
                  <a:schemeClr val="accent2"/>
                </a:solidFill>
              </a:rPr>
              <a:t>5.79 K</a:t>
            </a:r>
            <a:endParaRPr lang="en-US" sz="2400" dirty="0"/>
          </a:p>
          <a:p>
            <a:pPr marL="0" indent="0" algn="l">
              <a:buNone/>
            </a:pPr>
            <a:r>
              <a:rPr lang="en-US" sz="1300" dirty="0">
                <a:solidFill>
                  <a:schemeClr val="bg1"/>
                </a:solidFill>
              </a:rPr>
              <a:t>lower peak when two cores idle</a:t>
            </a:r>
            <a:endParaRPr lang="en-US" sz="2400" dirty="0"/>
          </a:p>
        </p:txBody>
      </p:sp>
      <p:sp>
        <p:nvSpPr>
          <p:cNvPr id="9" name="Result stat 2"/>
          <p:cNvSpPr/>
          <p:nvPr/>
        </p:nvSpPr>
        <p:spPr>
          <a:xfrm>
            <a:off x="4297680" y="5029200"/>
            <a:ext cx="3566160" cy="1188720"/>
          </a:xfrm>
          <a:prstGeom prst="roundRect">
            <a:avLst>
              <a:gd name="adj" fmla="val 9231"/>
            </a:avLst>
          </a:prstGeom>
          <a:solidFill>
            <a:schemeClr val="tx1"/>
          </a:solidFill>
          <a:ln w="12700">
            <a:solidFill>
              <a:schemeClr val="tx1"/>
            </a:solidFill>
            <a:prstDash val="solid"/>
          </a:ln>
        </p:spPr>
      </p:sp>
      <p:sp>
        <p:nvSpPr>
          <p:cNvPr id="10" name="Result stat text 2"/>
          <p:cNvSpPr txBox="1"/>
          <p:nvPr/>
        </p:nvSpPr>
        <p:spPr>
          <a:xfrm>
            <a:off x="4480560" y="5074920"/>
            <a:ext cx="3200400" cy="1097280"/>
          </a:xfrm>
          <a:prstGeom prst="rect">
            <a:avLst/>
          </a:prstGeom>
          <a:noFill/>
          <a:ln/>
        </p:spPr>
        <p:txBody>
          <a:bodyPr wrap="square" lIns="0" tIns="0" rIns="0" bIns="0" rtlCol="0" anchor="ctr"/>
          <a:lstStyle/>
          <a:p>
            <a:pPr marL="0" indent="0" algn="l">
              <a:buNone/>
            </a:pPr>
            <a:r>
              <a:rPr lang="en-US" sz="2400" b="1" dirty="0">
                <a:solidFill>
                  <a:schemeClr val="accent2"/>
                </a:solidFill>
              </a:rPr>
              <a:t>4.03 vs 5.73 K/W</a:t>
            </a:r>
            <a:endParaRPr lang="en-US" sz="2400" dirty="0"/>
          </a:p>
          <a:p>
            <a:pPr marL="0" indent="0" algn="l">
              <a:buNone/>
            </a:pPr>
            <a:r>
              <a:rPr lang="en-US" sz="1300" dirty="0">
                <a:solidFill>
                  <a:schemeClr val="bg1"/>
                </a:solidFill>
              </a:rPr>
              <a:t>peak rise per watt, LP vs uniform</a:t>
            </a:r>
            <a:endParaRPr lang="en-US" sz="2400" dirty="0"/>
          </a:p>
        </p:txBody>
      </p:sp>
      <p:sp>
        <p:nvSpPr>
          <p:cNvPr id="11" name="Result stat 3"/>
          <p:cNvSpPr/>
          <p:nvPr/>
        </p:nvSpPr>
        <p:spPr>
          <a:xfrm>
            <a:off x="8046720" y="5029200"/>
            <a:ext cx="3566160" cy="1188720"/>
          </a:xfrm>
          <a:prstGeom prst="roundRect">
            <a:avLst>
              <a:gd name="adj" fmla="val 9231"/>
            </a:avLst>
          </a:prstGeom>
          <a:solidFill>
            <a:schemeClr val="tx1"/>
          </a:solidFill>
          <a:ln w="12700">
            <a:solidFill>
              <a:schemeClr val="tx1"/>
            </a:solidFill>
            <a:prstDash val="solid"/>
          </a:ln>
        </p:spPr>
      </p:sp>
      <p:sp>
        <p:nvSpPr>
          <p:cNvPr id="12" name="Result stat text 3"/>
          <p:cNvSpPr txBox="1"/>
          <p:nvPr/>
        </p:nvSpPr>
        <p:spPr>
          <a:xfrm>
            <a:off x="8229600" y="5074920"/>
            <a:ext cx="3200400" cy="1097280"/>
          </a:xfrm>
          <a:prstGeom prst="rect">
            <a:avLst/>
          </a:prstGeom>
          <a:noFill/>
          <a:ln/>
        </p:spPr>
        <p:txBody>
          <a:bodyPr wrap="square" lIns="0" tIns="0" rIns="0" bIns="0" rtlCol="0" anchor="ctr"/>
          <a:lstStyle/>
          <a:p>
            <a:pPr marL="0" indent="0" algn="l">
              <a:buNone/>
            </a:pPr>
            <a:r>
              <a:rPr lang="en-US" sz="2400" b="1" dirty="0">
                <a:solidFill>
                  <a:schemeClr val="accent2"/>
                </a:solidFill>
              </a:rPr>
              <a:t>5.91 x 10⁻¹⁶</a:t>
            </a:r>
            <a:endParaRPr lang="en-US" sz="2400" dirty="0"/>
          </a:p>
          <a:p>
            <a:pPr marL="0" indent="0" algn="l">
              <a:buNone/>
            </a:pPr>
            <a:r>
              <a:rPr lang="en-US" sz="1300" dirty="0">
                <a:solidFill>
                  <a:schemeClr val="bg1"/>
                </a:solidFill>
              </a:rPr>
              <a:t>modal vs sparse solver error</a:t>
            </a:r>
            <a:endParaRPr lang="en-US" sz="2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label"/>
          <p:cNvSpPr txBox="1"/>
          <p:nvPr/>
        </p:nvSpPr>
        <p:spPr>
          <a:xfrm>
            <a:off x="548640" y="228600"/>
            <a:ext cx="73152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7  LIMITATIONS AND CONCLUSION</a:t>
            </a:r>
            <a:endParaRPr lang="en-US" sz="1200" dirty="0"/>
          </a:p>
        </p:txBody>
      </p:sp>
      <p:sp>
        <p:nvSpPr>
          <p:cNvPr id="3" name="Text 0"/>
          <p:cNvSpPr>
            <a:spLocks noGrp="1"/>
          </p:cNvSpPr>
          <p:nvPr>
            <p:ph type="title" idx="100" hasCustomPrompt="1"/>
          </p:nvPr>
        </p:nvSpPr>
        <p:spPr>
          <a:xfrm>
            <a:off x="548640" y="502920"/>
            <a:ext cx="11064240" cy="731520"/>
          </a:xfrm>
          <a:prstGeom prst="rect">
            <a:avLst/>
          </a:prstGeom>
          <a:noFill/>
          <a:ln/>
        </p:spPr>
        <p:txBody>
          <a:bodyPr wrap="square" lIns="0" tIns="0" rIns="0" bIns="0" rtlCol="0" anchor="ctr"/>
          <a:lstStyle/>
          <a:p>
            <a:pPr marL="0" indent="0" algn="l">
              <a:buNone/>
            </a:pPr>
            <a:r>
              <a:rPr lang="en-US" sz="3400" b="1" dirty="0">
                <a:solidFill>
                  <a:schemeClr val="tx1"/>
                </a:solidFill>
              </a:rPr>
              <a:t>What we can claim, and what we cannot</a:t>
            </a:r>
            <a:endParaRPr lang="en-US" sz="3400" dirty="0"/>
          </a:p>
        </p:txBody>
      </p:sp>
      <p:sp>
        <p:nvSpPr>
          <p:cNvPr id="4" name="Limit card 1"/>
          <p:cNvSpPr/>
          <p:nvPr/>
        </p:nvSpPr>
        <p:spPr>
          <a:xfrm>
            <a:off x="548640" y="1463040"/>
            <a:ext cx="5852160" cy="1051560"/>
          </a:xfrm>
          <a:prstGeom prst="roundRect">
            <a:avLst>
              <a:gd name="adj" fmla="val 10435"/>
            </a:avLst>
          </a:prstGeom>
          <a:solidFill>
            <a:schemeClr val="bg2"/>
          </a:solidFill>
          <a:ln w="12700">
            <a:solidFill>
              <a:schemeClr val="bg2"/>
            </a:solidFill>
            <a:prstDash val="solid"/>
          </a:ln>
        </p:spPr>
      </p:sp>
      <p:sp>
        <p:nvSpPr>
          <p:cNvPr id="5" name="Limit text 1"/>
          <p:cNvSpPr txBox="1"/>
          <p:nvPr/>
        </p:nvSpPr>
        <p:spPr>
          <a:xfrm>
            <a:off x="777240" y="1508760"/>
            <a:ext cx="5440680" cy="960120"/>
          </a:xfrm>
          <a:prstGeom prst="rect">
            <a:avLst/>
          </a:prstGeom>
          <a:noFill/>
          <a:ln/>
        </p:spPr>
        <p:txBody>
          <a:bodyPr wrap="square" lIns="0" tIns="0" rIns="0" bIns="0" rtlCol="0" anchor="ctr"/>
          <a:lstStyle/>
          <a:p>
            <a:pPr marL="0" indent="0">
              <a:buNone/>
            </a:pPr>
            <a:r>
              <a:rPr lang="en-US" sz="1600" b="1" dirty="0">
                <a:solidFill>
                  <a:schemeClr val="tx1"/>
                </a:solidFill>
              </a:rPr>
              <a:t>Synthetic power</a:t>
            </a:r>
            <a:endParaRPr lang="en-US" sz="1600" dirty="0"/>
          </a:p>
          <a:p>
            <a:pPr marL="0" indent="0">
              <a:buNone/>
            </a:pPr>
            <a:r>
              <a:rPr lang="en-US" sz="1400" dirty="0">
                <a:solidFill>
                  <a:schemeClr val="tx2"/>
                </a:solidFill>
              </a:rPr>
              <a:t>Block powers come from a model, not from measured RISC-V silicon.</a:t>
            </a:r>
            <a:endParaRPr lang="en-US" sz="1600" dirty="0"/>
          </a:p>
        </p:txBody>
      </p:sp>
      <p:sp>
        <p:nvSpPr>
          <p:cNvPr id="6" name="Limit card 2"/>
          <p:cNvSpPr/>
          <p:nvPr/>
        </p:nvSpPr>
        <p:spPr>
          <a:xfrm>
            <a:off x="548640" y="2651760"/>
            <a:ext cx="5852160" cy="1051560"/>
          </a:xfrm>
          <a:prstGeom prst="roundRect">
            <a:avLst>
              <a:gd name="adj" fmla="val 10435"/>
            </a:avLst>
          </a:prstGeom>
          <a:solidFill>
            <a:schemeClr val="bg2"/>
          </a:solidFill>
          <a:ln w="12700">
            <a:solidFill>
              <a:schemeClr val="bg2"/>
            </a:solidFill>
            <a:prstDash val="solid"/>
          </a:ln>
        </p:spPr>
      </p:sp>
      <p:sp>
        <p:nvSpPr>
          <p:cNvPr id="7" name="Limit text 2"/>
          <p:cNvSpPr txBox="1"/>
          <p:nvPr/>
        </p:nvSpPr>
        <p:spPr>
          <a:xfrm>
            <a:off x="777240" y="2697480"/>
            <a:ext cx="5440680" cy="960120"/>
          </a:xfrm>
          <a:prstGeom prst="rect">
            <a:avLst/>
          </a:prstGeom>
          <a:noFill/>
          <a:ln/>
        </p:spPr>
        <p:txBody>
          <a:bodyPr wrap="square" lIns="0" tIns="0" rIns="0" bIns="0" rtlCol="0" anchor="ctr"/>
          <a:lstStyle/>
          <a:p>
            <a:pPr marL="0" indent="0">
              <a:buNone/>
            </a:pPr>
            <a:r>
              <a:rPr lang="en-US" sz="1600" b="1" dirty="0">
                <a:solidFill>
                  <a:schemeClr val="tx1"/>
                </a:solidFill>
              </a:rPr>
              <a:t>Simple die</a:t>
            </a:r>
            <a:endParaRPr lang="en-US" sz="1600" dirty="0"/>
          </a:p>
          <a:p>
            <a:pPr marL="0" indent="0">
              <a:buNone/>
            </a:pPr>
            <a:r>
              <a:rPr lang="en-US" sz="1400" dirty="0">
                <a:solidFill>
                  <a:schemeClr val="tx2"/>
                </a:solidFill>
              </a:rPr>
              <a:t>Constant conductivity, ideal 300 K edges, and no package or heat spreader.</a:t>
            </a:r>
            <a:endParaRPr lang="en-US" sz="1600" dirty="0"/>
          </a:p>
        </p:txBody>
      </p:sp>
      <p:sp>
        <p:nvSpPr>
          <p:cNvPr id="8" name="Limit card 3"/>
          <p:cNvSpPr/>
          <p:nvPr/>
        </p:nvSpPr>
        <p:spPr>
          <a:xfrm>
            <a:off x="548640" y="3840480"/>
            <a:ext cx="5852160" cy="1051560"/>
          </a:xfrm>
          <a:prstGeom prst="roundRect">
            <a:avLst>
              <a:gd name="adj" fmla="val 10435"/>
            </a:avLst>
          </a:prstGeom>
          <a:solidFill>
            <a:schemeClr val="bg2"/>
          </a:solidFill>
          <a:ln w="12700">
            <a:solidFill>
              <a:schemeClr val="bg2"/>
            </a:solidFill>
            <a:prstDash val="solid"/>
          </a:ln>
        </p:spPr>
      </p:sp>
      <p:sp>
        <p:nvSpPr>
          <p:cNvPr id="9" name="Limit text 3"/>
          <p:cNvSpPr txBox="1"/>
          <p:nvPr/>
        </p:nvSpPr>
        <p:spPr>
          <a:xfrm>
            <a:off x="777240" y="3886200"/>
            <a:ext cx="5440680" cy="960120"/>
          </a:xfrm>
          <a:prstGeom prst="rect">
            <a:avLst/>
          </a:prstGeom>
          <a:noFill/>
          <a:ln/>
        </p:spPr>
        <p:txBody>
          <a:bodyPr wrap="square" lIns="0" tIns="0" rIns="0" bIns="0" rtlCol="0" anchor="ctr"/>
          <a:lstStyle/>
          <a:p>
            <a:pPr marL="0" indent="0">
              <a:buNone/>
            </a:pPr>
            <a:r>
              <a:rPr lang="en-US" sz="1600" b="1" dirty="0">
                <a:solidFill>
                  <a:schemeClr val="tx1"/>
                </a:solidFill>
              </a:rPr>
              <a:t>The cache floor matters</a:t>
            </a:r>
            <a:endParaRPr lang="en-US" sz="1600" dirty="0"/>
          </a:p>
          <a:p>
            <a:pPr marL="0" indent="0">
              <a:buNone/>
            </a:pPr>
            <a:r>
              <a:rPr lang="en-US" sz="1400" dirty="0">
                <a:solidFill>
                  <a:schemeClr val="tx2"/>
                </a:solidFill>
              </a:rPr>
              <a:t>The 0.3 W minimum for L2 shapes the answer. A different floor moves the optimum.</a:t>
            </a:r>
            <a:endParaRPr lang="en-US" sz="1600" dirty="0"/>
          </a:p>
        </p:txBody>
      </p:sp>
      <p:sp>
        <p:nvSpPr>
          <p:cNvPr id="10" name="Limit card 4"/>
          <p:cNvSpPr/>
          <p:nvPr/>
        </p:nvSpPr>
        <p:spPr>
          <a:xfrm>
            <a:off x="548640" y="5029200"/>
            <a:ext cx="5852160" cy="1051560"/>
          </a:xfrm>
          <a:prstGeom prst="roundRect">
            <a:avLst>
              <a:gd name="adj" fmla="val 10435"/>
            </a:avLst>
          </a:prstGeom>
          <a:solidFill>
            <a:schemeClr val="bg2"/>
          </a:solidFill>
          <a:ln w="12700">
            <a:solidFill>
              <a:schemeClr val="bg2"/>
            </a:solidFill>
            <a:prstDash val="solid"/>
          </a:ln>
        </p:spPr>
      </p:sp>
      <p:sp>
        <p:nvSpPr>
          <p:cNvPr id="11" name="Limit text 4"/>
          <p:cNvSpPr txBox="1"/>
          <p:nvPr/>
        </p:nvSpPr>
        <p:spPr>
          <a:xfrm>
            <a:off x="777240" y="5074920"/>
            <a:ext cx="5440680" cy="960120"/>
          </a:xfrm>
          <a:prstGeom prst="rect">
            <a:avLst/>
          </a:prstGeom>
          <a:noFill/>
          <a:ln/>
        </p:spPr>
        <p:txBody>
          <a:bodyPr wrap="square" lIns="0" tIns="0" rIns="0" bIns="0" rtlCol="0" anchor="ctr"/>
          <a:lstStyle/>
          <a:p>
            <a:pPr marL="0" indent="0">
              <a:buNone/>
            </a:pPr>
            <a:r>
              <a:rPr lang="en-US" sz="1600" b="1" dirty="0">
                <a:solidFill>
                  <a:schemeClr val="tx1"/>
                </a:solidFill>
              </a:rPr>
              <a:t>Brief's target</a:t>
            </a:r>
            <a:endParaRPr lang="en-US" sz="1600" dirty="0"/>
          </a:p>
          <a:p>
            <a:pPr marL="0" indent="0">
              <a:buNone/>
            </a:pPr>
            <a:r>
              <a:rPr lang="en-US" sz="1400" dirty="0">
                <a:solidFill>
                  <a:schemeClr val="tx2"/>
                </a:solidFill>
              </a:rPr>
              <a:t>With the brief's symmetric layout, uniform is already optimal, so the expected 5 K gain cannot appear.</a:t>
            </a:r>
            <a:endParaRPr lang="en-US" sz="1600" dirty="0"/>
          </a:p>
        </p:txBody>
      </p:sp>
      <p:sp>
        <p:nvSpPr>
          <p:cNvPr id="12" name="Conclusion panel"/>
          <p:cNvSpPr/>
          <p:nvPr/>
        </p:nvSpPr>
        <p:spPr>
          <a:xfrm>
            <a:off x="6675120" y="1463040"/>
            <a:ext cx="4937760" cy="4617720"/>
          </a:xfrm>
          <a:prstGeom prst="roundRect">
            <a:avLst>
              <a:gd name="adj" fmla="val 2376"/>
            </a:avLst>
          </a:prstGeom>
          <a:solidFill>
            <a:schemeClr val="tx1"/>
          </a:solidFill>
          <a:ln w="12700">
            <a:solidFill>
              <a:schemeClr val="tx1"/>
            </a:solidFill>
            <a:prstDash val="solid"/>
          </a:ln>
        </p:spPr>
      </p:sp>
      <p:sp>
        <p:nvSpPr>
          <p:cNvPr id="13" name="Conclusion heading"/>
          <p:cNvSpPr txBox="1"/>
          <p:nvPr/>
        </p:nvSpPr>
        <p:spPr>
          <a:xfrm>
            <a:off x="6949440" y="1645920"/>
            <a:ext cx="4389120" cy="457200"/>
          </a:xfrm>
          <a:prstGeom prst="rect">
            <a:avLst/>
          </a:prstGeom>
          <a:noFill/>
          <a:ln/>
        </p:spPr>
        <p:txBody>
          <a:bodyPr wrap="square" lIns="0" tIns="0" rIns="0" bIns="0" rtlCol="0" anchor="ctr"/>
          <a:lstStyle/>
          <a:p>
            <a:pPr marL="0" indent="0">
              <a:buNone/>
            </a:pPr>
            <a:r>
              <a:rPr lang="en-US" sz="2200" b="1" dirty="0">
                <a:solidFill>
                  <a:schemeClr val="accent2"/>
                </a:solidFill>
              </a:rPr>
              <a:t>Conclusion</a:t>
            </a:r>
            <a:endParaRPr lang="en-US" sz="2200" dirty="0"/>
          </a:p>
        </p:txBody>
      </p:sp>
      <p:sp>
        <p:nvSpPr>
          <p:cNvPr id="14" name="Conclusion text"/>
          <p:cNvSpPr txBox="1"/>
          <p:nvPr/>
        </p:nvSpPr>
        <p:spPr>
          <a:xfrm>
            <a:off x="6949440" y="2240280"/>
            <a:ext cx="4389120" cy="3657600"/>
          </a:xfrm>
          <a:prstGeom prst="rect">
            <a:avLst/>
          </a:prstGeom>
          <a:noFill/>
          <a:ln/>
        </p:spPr>
        <p:txBody>
          <a:bodyPr wrap="square" lIns="0" tIns="0" rIns="0" bIns="0" rtlCol="0" anchor="t"/>
          <a:lstStyle/>
          <a:p>
            <a:pPr marL="0" indent="0">
              <a:spcAft>
                <a:spcPts val="1400"/>
              </a:spcAft>
              <a:buNone/>
            </a:pPr>
            <a:r>
              <a:rPr lang="en-US" sz="1500" dirty="0">
                <a:solidFill>
                  <a:schemeClr val="bg1"/>
                </a:solidFill>
              </a:rPr>
              <a:t>The LP allocation cuts the peak by 5.79 K when two cores are idle and by 2.31 K when all four run.</a:t>
            </a:r>
            <a:endParaRPr lang="en-US" sz="1500" dirty="0"/>
          </a:p>
          <a:p>
            <a:pPr marL="0" indent="0">
              <a:spcAft>
                <a:spcPts val="1400"/>
              </a:spcAft>
              <a:buNone/>
            </a:pPr>
            <a:r>
              <a:rPr lang="en-US" sz="1500" dirty="0">
                <a:solidFill>
                  <a:schemeClr val="bg1"/>
                </a:solidFill>
              </a:rPr>
              <a:t>Every stage is checked, with 16 of 16 tests passing and machine-precision agreement with the analytical solution.</a:t>
            </a:r>
            <a:endParaRPr lang="en-US" sz="1500" dirty="0"/>
          </a:p>
          <a:p>
            <a:pPr marL="0" indent="0">
              <a:spcAft>
                <a:spcPts val="1400"/>
              </a:spcAft>
              <a:buNone/>
            </a:pPr>
            <a:r>
              <a:rPr lang="en-US" sz="1500" dirty="0">
                <a:solidFill>
                  <a:schemeClr val="bg1"/>
                </a:solidFill>
              </a:rPr>
              <a:t>Next steps: finite-area blocks with measured power, a 3D package model, and transient workloads.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label"/>
          <p:cNvSpPr txBox="1"/>
          <p:nvPr/>
        </p:nvSpPr>
        <p:spPr>
          <a:xfrm>
            <a:off x="548640" y="228600"/>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rPr>
              <a:t>8  REFERENCES</a:t>
            </a:r>
            <a:endParaRPr lang="en-US" sz="1200" dirty="0"/>
          </a:p>
        </p:txBody>
      </p:sp>
      <p:sp>
        <p:nvSpPr>
          <p:cNvPr id="3" name="Text 0"/>
          <p:cNvSpPr>
            <a:spLocks noGrp="1"/>
          </p:cNvSpPr>
          <p:nvPr>
            <p:ph type="title" idx="100" hasCustomPrompt="1"/>
          </p:nvPr>
        </p:nvSpPr>
        <p:spPr>
          <a:xfrm>
            <a:off x="548640" y="502920"/>
            <a:ext cx="11064240" cy="731520"/>
          </a:xfrm>
          <a:prstGeom prst="rect">
            <a:avLst/>
          </a:prstGeom>
          <a:noFill/>
          <a:ln/>
        </p:spPr>
        <p:txBody>
          <a:bodyPr wrap="square" lIns="0" tIns="0" rIns="0" bIns="0" rtlCol="0" anchor="ctr"/>
          <a:lstStyle/>
          <a:p>
            <a:pPr marL="0" indent="0" algn="l">
              <a:buNone/>
            </a:pPr>
            <a:r>
              <a:rPr lang="en-US" sz="3400" b="1" dirty="0">
                <a:solidFill>
                  <a:schemeClr val="bg1"/>
                </a:solidFill>
              </a:rPr>
              <a:t>References</a:t>
            </a:r>
            <a:endParaRPr lang="en-US" sz="3400" dirty="0"/>
          </a:p>
        </p:txBody>
      </p:sp>
      <p:sp>
        <p:nvSpPr>
          <p:cNvPr id="4" name="Reference list"/>
          <p:cNvSpPr txBox="1"/>
          <p:nvPr/>
        </p:nvSpPr>
        <p:spPr>
          <a:xfrm>
            <a:off x="548640" y="1554480"/>
            <a:ext cx="11064240" cy="4389120"/>
          </a:xfrm>
          <a:prstGeom prst="rect">
            <a:avLst/>
          </a:prstGeom>
          <a:noFill/>
          <a:ln/>
        </p:spPr>
        <p:txBody>
          <a:bodyPr wrap="square" lIns="0" tIns="0" rIns="0" bIns="0" rtlCol="0" anchor="t"/>
          <a:lstStyle/>
          <a:p>
            <a:pPr marL="0" indent="0">
              <a:spcAft>
                <a:spcPts val="1200"/>
              </a:spcAft>
              <a:buNone/>
            </a:pPr>
            <a:r>
              <a:rPr lang="en-US" sz="1600" dirty="0">
                <a:solidFill>
                  <a:schemeClr val="bg1"/>
                </a:solidFill>
              </a:rPr>
              <a:t>[1]  H. S. Carslaw and J. C. Jaeger, Conduction of Heat in Solids, 2nd ed., Oxford University Press, 1959.</a:t>
            </a:r>
            <a:endParaRPr lang="en-US" sz="1600" dirty="0"/>
          </a:p>
          <a:p>
            <a:pPr marL="0" indent="0">
              <a:spcAft>
                <a:spcPts val="1200"/>
              </a:spcAft>
              <a:buNone/>
            </a:pPr>
            <a:r>
              <a:rPr lang="en-US" sz="1600" dirty="0">
                <a:solidFill>
                  <a:schemeClr val="bg1"/>
                </a:solidFill>
              </a:rPr>
              <a:t>[2]  W. Huang et al., "HotSpot: A compact thermal modeling methodology for early-stage VLSI design," IEEE Trans. VLSI Syst., vol. 14, no. 5, 2006.</a:t>
            </a:r>
            <a:endParaRPr lang="en-US" sz="1600" dirty="0"/>
          </a:p>
          <a:p>
            <a:pPr marL="0" indent="0">
              <a:spcAft>
                <a:spcPts val="1200"/>
              </a:spcAft>
              <a:buNone/>
            </a:pPr>
            <a:r>
              <a:rPr lang="en-US" sz="1600" dirty="0">
                <a:solidFill>
                  <a:schemeClr val="bg1"/>
                </a:solidFill>
              </a:rPr>
              <a:t>[3]  S. Murali et al., "Temperature-aware processor frequency assignment for MPSoCs using convex optimization," CODES+ISSS, 2007.</a:t>
            </a:r>
            <a:endParaRPr lang="en-US" sz="1600" dirty="0"/>
          </a:p>
          <a:p>
            <a:pPr marL="0" indent="0">
              <a:spcAft>
                <a:spcPts val="1200"/>
              </a:spcAft>
              <a:buNone/>
            </a:pPr>
            <a:r>
              <a:rPr lang="en-US" sz="1600" dirty="0">
                <a:solidFill>
                  <a:schemeClr val="bg1"/>
                </a:solidFill>
              </a:rPr>
              <a:t>[4]  S. Boyd and L. Vandenberghe, Convex Optimization, Cambridge University Press, 2004.</a:t>
            </a:r>
            <a:endParaRPr lang="en-US" sz="1600" dirty="0"/>
          </a:p>
          <a:p>
            <a:pPr marL="0" indent="0">
              <a:spcAft>
                <a:spcPts val="1200"/>
              </a:spcAft>
              <a:buNone/>
            </a:pPr>
            <a:r>
              <a:rPr lang="en-US" sz="1600" dirty="0">
                <a:solidFill>
                  <a:schemeClr val="bg1"/>
                </a:solidFill>
              </a:rPr>
              <a:t>[5]  P. Virtanen et al., "SciPy 1.0: Fundamental algorithms for scientific computing in Python," Nature Methods, vol. 17, 2020.</a:t>
            </a:r>
            <a:endParaRPr lang="en-US" sz="1600" dirty="0"/>
          </a:p>
          <a:p>
            <a:pPr marL="0" indent="0">
              <a:spcAft>
                <a:spcPts val="1200"/>
              </a:spcAft>
              <a:buNone/>
            </a:pPr>
            <a:r>
              <a:rPr lang="en-US" sz="1600" dirty="0">
                <a:solidFill>
                  <a:schemeClr val="bg1"/>
                </a:solidFill>
              </a:rPr>
              <a:t>[6]  FRISC-V, open-source 5-stage RV32I core, University of Zagreb, 2024.</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9</a:t>
            </a:fld>
            <a:endParaRPr lang="en-US"/>
          </a:p>
        </p:txBody>
      </p:sp>
    </p:spTree>
  </p:cSld>
  <p:clrMapOvr>
    <a:masterClrMapping/>
  </p:clrMapOvr>
</p:sld>
</file>

<file path=ppt/theme/theme1.xml><?xml version="1.0" encoding="utf-8"?>
<a:theme xmlns:a="http://schemas.openxmlformats.org/drawingml/2006/main" name="Thermal Ember">
  <a:themeElements>
    <a:clrScheme name="Thermal Ember">
      <a:dk1>
        <a:srgbClr val="1B1F2A"/>
      </a:dk1>
      <a:lt1>
        <a:srgbClr val="FFFFFF"/>
      </a:lt1>
      <a:dk2>
        <a:srgbClr val="2B3245"/>
      </a:dk2>
      <a:lt2>
        <a:srgbClr val="F1F3F7"/>
      </a:lt2>
      <a:accent1>
        <a:srgbClr val="E8590C"/>
      </a:accent1>
      <a:accent2>
        <a:srgbClr val="F59F00"/>
      </a:accent2>
      <a:accent3>
        <a:srgbClr val="2F7DD1"/>
      </a:accent3>
      <a:accent4>
        <a:srgbClr val="2B8A6E"/>
      </a:accent4>
      <a:accent5>
        <a:srgbClr val="7A869A"/>
      </a:accent5>
      <a:accent6>
        <a:srgbClr val="C92A2A"/>
      </a:accent6>
      <a:hlink>
        <a:srgbClr val="2F7DD1"/>
      </a:hlink>
      <a:folHlink>
        <a:srgbClr val="7A869A"/>
      </a:folHlink>
    </a:clrScheme>
    <a:fontScheme name="Thermal Emb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9</Slides>
  <Notes>9</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Thermal Ember</vt:lpstr>
      <vt:lpstr>Thermal-Aware Power Budgeting for a Quad-Core RISC-V Processor</vt:lpstr>
      <vt:lpstr>Where should the 5 watts go?</vt:lpstr>
      <vt:lpstr>Our Embodiment: Why a Quad-Core RISC-V Chip</vt:lpstr>
      <vt:lpstr>What exists, and what is left to do</vt:lpstr>
      <vt:lpstr>From Fourier's law to a linear program</vt:lpstr>
      <vt:lpstr>A modular Python pipeline</vt:lpstr>
      <vt:lpstr>The LP lowers the peak by up to 5.79 K</vt:lpstr>
      <vt:lpstr>What we can claim, and what we cannot</vt:lpstr>
      <vt:lpstr>References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Thermal-Aware Power Budgeting for a Quad-Core RISC-V Processor</dc:title>
  <dc:subject>PptxGenJS Presentation</dc:subject>
  <dc:creator>PptxGenJS</dc:creator>
  <cp:lastModifiedBy>Gautham D</cp:lastModifiedBy>
  <cp:revision>2</cp:revision>
  <dcterms:created xsi:type="dcterms:W3CDTF">2026-10-13T02:50:44Z</dcterms:created>
  <dcterms:modified xsi:type="dcterms:W3CDTF">2026-10-13T02:52:26Z</dcterms:modified>
</cp:coreProperties>
</file>